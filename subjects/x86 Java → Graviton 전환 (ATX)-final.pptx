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9" r:id="rId9"/>
    <p:sldId id="263" r:id="rId10"/>
    <p:sldId id="264" r:id="rId11"/>
    <p:sldId id="265" r:id="rId12"/>
    <p:sldId id="266" r:id="rId13"/>
    <p:sldId id="267" r:id="rId14"/>
    <p:sldId id="268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F4308B9-D5FE-C94F-AF2F-DA4B4B4B44E5}" v="1" dt="2026-08-10T00:24:51.96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534"/>
    <p:restoredTop sz="94610"/>
  </p:normalViewPr>
  <p:slideViewPr>
    <p:cSldViewPr snapToGrid="0" snapToObjects="1">
      <p:cViewPr varScale="1">
        <p:scale>
          <a:sx n="119" d="100"/>
          <a:sy n="119" d="100"/>
        </p:scale>
        <p:origin x="40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ng, HongSeok" userId="0f4c97f9-575d-40fd-93aa-5585ce2f3bfe" providerId="ADAL" clId="{6816DE40-8118-5E05-B110-6531F1DCC548}"/>
    <pc:docChg chg="mod addSld delSld modSld">
      <pc:chgData name="Kang, HongSeok" userId="0f4c97f9-575d-40fd-93aa-5585ce2f3bfe" providerId="ADAL" clId="{6816DE40-8118-5E05-B110-6531F1DCC548}" dt="2026-08-10T00:24:52.219" v="2" actId="33475"/>
      <pc:docMkLst>
        <pc:docMk/>
      </pc:docMkLst>
      <pc:sldChg chg="del">
        <pc:chgData name="Kang, HongSeok" userId="0f4c97f9-575d-40fd-93aa-5585ce2f3bfe" providerId="ADAL" clId="{6816DE40-8118-5E05-B110-6531F1DCC548}" dt="2026-08-10T00:24:42.180" v="0" actId="2696"/>
        <pc:sldMkLst>
          <pc:docMk/>
          <pc:sldMk cId="0" sldId="269"/>
        </pc:sldMkLst>
      </pc:sldChg>
      <pc:sldChg chg="add setBg">
        <pc:chgData name="Kang, HongSeok" userId="0f4c97f9-575d-40fd-93aa-5585ce2f3bfe" providerId="ADAL" clId="{6816DE40-8118-5E05-B110-6531F1DCC548}" dt="2026-08-10T00:24:51.962" v="1"/>
        <pc:sldMkLst>
          <pc:docMk/>
          <pc:sldMk cId="2057759174" sldId="269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105753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986122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sv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5" Type="http://schemas.openxmlformats.org/officeDocument/2006/relationships/image" Target="../media/image3.svg"/><Relationship Id="rId4" Type="http://schemas.openxmlformats.org/officeDocument/2006/relationships/image" Target="../media/image2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svg"/><Relationship Id="rId5" Type="http://schemas.openxmlformats.org/officeDocument/2006/relationships/image" Target="../media/image10.svg"/><Relationship Id="rId4" Type="http://schemas.openxmlformats.org/officeDocument/2006/relationships/image" Target="../media/image9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svg"/><Relationship Id="rId4" Type="http://schemas.openxmlformats.org/officeDocument/2006/relationships/image" Target="../media/image13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svg"/><Relationship Id="rId5" Type="http://schemas.openxmlformats.org/officeDocument/2006/relationships/image" Target="../media/image17.svg"/><Relationship Id="rId4" Type="http://schemas.openxmlformats.org/officeDocument/2006/relationships/image" Target="../media/image16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svg"/><Relationship Id="rId3" Type="http://schemas.openxmlformats.org/officeDocument/2006/relationships/image" Target="../media/image19.svg"/><Relationship Id="rId7" Type="http://schemas.openxmlformats.org/officeDocument/2006/relationships/image" Target="../media/image23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svg"/><Relationship Id="rId5" Type="http://schemas.openxmlformats.org/officeDocument/2006/relationships/image" Target="../media/image21.svg"/><Relationship Id="rId4" Type="http://schemas.openxmlformats.org/officeDocument/2006/relationships/image" Target="../media/image20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7.svg"/><Relationship Id="rId4" Type="http://schemas.openxmlformats.org/officeDocument/2006/relationships/image" Target="../media/image26.sv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svg"/><Relationship Id="rId5" Type="http://schemas.openxmlformats.org/officeDocument/2006/relationships/image" Target="../media/image30.svg"/><Relationship Id="rId4" Type="http://schemas.openxmlformats.org/officeDocument/2006/relationships/image" Target="../media/image29.sv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svg"/><Relationship Id="rId3" Type="http://schemas.openxmlformats.org/officeDocument/2006/relationships/image" Target="../media/image32.svg"/><Relationship Id="rId7" Type="http://schemas.openxmlformats.org/officeDocument/2006/relationships/image" Target="../media/image35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svg"/><Relationship Id="rId5" Type="http://schemas.openxmlformats.org/officeDocument/2006/relationships/image" Target="../media/image34.svg"/><Relationship Id="rId4" Type="http://schemas.openxmlformats.org/officeDocument/2006/relationships/image" Target="../media/image33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9.svg"/><Relationship Id="rId4" Type="http://schemas.openxmlformats.org/officeDocument/2006/relationships/image" Target="../media/image38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sv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svg"/><Relationship Id="rId3" Type="http://schemas.openxmlformats.org/officeDocument/2006/relationships/image" Target="../media/image13.svg"/><Relationship Id="rId7" Type="http://schemas.openxmlformats.org/officeDocument/2006/relationships/image" Target="../media/image42.sv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svg"/><Relationship Id="rId5" Type="http://schemas.openxmlformats.org/officeDocument/2006/relationships/image" Target="../media/image18.svg"/><Relationship Id="rId4" Type="http://schemas.openxmlformats.org/officeDocument/2006/relationships/image" Target="../media/image41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sv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32F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9900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3" name="Text 1"/>
          <p:cNvSpPr/>
          <p:nvPr/>
        </p:nvSpPr>
        <p:spPr>
          <a:xfrm>
            <a:off x="822960" y="21488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x86 Java → Graviton 전환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41248" y="32004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Transform custom (ATX) · AWS/early-access-java-x86-to-graviton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41248" y="37947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3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실행 절차</a:t>
            </a:r>
            <a:r>
              <a:rPr lang="en-US" sz="140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r>
              <a:rPr lang="en-US" sz="1400" dirty="0">
                <a:solidFill>
                  <a:srgbClr val="B3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검증 항목</a:t>
            </a:r>
            <a:r>
              <a:rPr lang="en-US" sz="140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r>
              <a:rPr lang="en-US" sz="1400" dirty="0">
                <a:solidFill>
                  <a:srgbClr val="B3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고려사항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41248" y="58521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99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강홍석  |  Mig &amp; Mod Partner SA, AWS  |  Graviton 최대 40% 가격 대비 성능 개선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  ·  CONTENTS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목차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298448"/>
            <a:ext cx="822960" cy="54864"/>
          </a:xfrm>
          <a:prstGeom prst="rect">
            <a:avLst/>
          </a:prstGeom>
          <a:solidFill>
            <a:srgbClr val="FF9900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52578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blurRad="63500" dist="25400" dir="5400000" algn="bl" rotWithShape="0">
              <a:srgbClr val="B0B8C4">
                <a:alpha val="18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6" name="Text 4"/>
          <p:cNvSpPr/>
          <p:nvPr/>
        </p:nvSpPr>
        <p:spPr>
          <a:xfrm>
            <a:off x="777240" y="1801368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400" dirty="0"/>
          </a:p>
        </p:txBody>
      </p:sp>
      <p:pic>
        <p:nvPicPr>
          <p:cNvPr id="7" name="Image 0" descr="icon_0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920240" y="1984248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468880" y="1600200"/>
            <a:ext cx="3154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ATX Custom이란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355080" y="1600200"/>
            <a:ext cx="52578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blurRad="63500" dist="25400" dir="5400000" algn="bl" rotWithShape="0">
              <a:srgbClr val="B0B8C4">
                <a:alpha val="18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10" name="Text 7"/>
          <p:cNvSpPr/>
          <p:nvPr/>
        </p:nvSpPr>
        <p:spPr>
          <a:xfrm>
            <a:off x="6583680" y="1801368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400" dirty="0"/>
          </a:p>
        </p:txBody>
      </p:sp>
      <p:pic>
        <p:nvPicPr>
          <p:cNvPr id="11" name="Image 1" descr="icon_1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26680" y="1984248"/>
            <a:ext cx="384048" cy="38404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275320" y="1600200"/>
            <a:ext cx="3154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가격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548640" y="3063240"/>
            <a:ext cx="52578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blurRad="63500" dist="25400" dir="5400000" algn="bl" rotWithShape="0">
              <a:srgbClr val="B0B8C4">
                <a:alpha val="18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14" name="Text 10"/>
          <p:cNvSpPr/>
          <p:nvPr/>
        </p:nvSpPr>
        <p:spPr>
          <a:xfrm>
            <a:off x="777240" y="3264408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400" dirty="0"/>
          </a:p>
        </p:txBody>
      </p:sp>
      <p:pic>
        <p:nvPicPr>
          <p:cNvPr id="15" name="Image 2" descr="icon_2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920240" y="3447288"/>
            <a:ext cx="384048" cy="38404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2468880" y="3063240"/>
            <a:ext cx="3154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x86→Graviton 트랜스포메이션 개요</a:t>
            </a:r>
            <a:endParaRPr lang="en-US" sz="1500" dirty="0"/>
          </a:p>
        </p:txBody>
      </p:sp>
      <p:sp>
        <p:nvSpPr>
          <p:cNvPr id="17" name="Shape 12"/>
          <p:cNvSpPr/>
          <p:nvPr/>
        </p:nvSpPr>
        <p:spPr>
          <a:xfrm>
            <a:off x="6355080" y="3063240"/>
            <a:ext cx="52578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blurRad="63500" dist="25400" dir="5400000" algn="bl" rotWithShape="0">
              <a:srgbClr val="B0B8C4">
                <a:alpha val="18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18" name="Text 13"/>
          <p:cNvSpPr/>
          <p:nvPr/>
        </p:nvSpPr>
        <p:spPr>
          <a:xfrm>
            <a:off x="6583680" y="3264408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3400" dirty="0"/>
          </a:p>
        </p:txBody>
      </p:sp>
      <p:pic>
        <p:nvPicPr>
          <p:cNvPr id="19" name="Image 3" descr="icon_3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726680" y="3447288"/>
            <a:ext cx="384048" cy="38404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8275320" y="3063240"/>
            <a:ext cx="3154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실행 명령어 절차</a:t>
            </a:r>
            <a:endParaRPr lang="en-US" sz="1500" dirty="0"/>
          </a:p>
        </p:txBody>
      </p:sp>
      <p:sp>
        <p:nvSpPr>
          <p:cNvPr id="21" name="Shape 15"/>
          <p:cNvSpPr/>
          <p:nvPr/>
        </p:nvSpPr>
        <p:spPr>
          <a:xfrm>
            <a:off x="548640" y="4526280"/>
            <a:ext cx="52578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blurRad="63500" dist="25400" dir="5400000" algn="bl" rotWithShape="0">
              <a:srgbClr val="B0B8C4">
                <a:alpha val="18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22" name="Text 16"/>
          <p:cNvSpPr/>
          <p:nvPr/>
        </p:nvSpPr>
        <p:spPr>
          <a:xfrm>
            <a:off x="777240" y="4727448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3400" dirty="0"/>
          </a:p>
        </p:txBody>
      </p:sp>
      <p:pic>
        <p:nvPicPr>
          <p:cNvPr id="23" name="Image 4" descr="icon_4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920240" y="4910328"/>
            <a:ext cx="384048" cy="384048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2468880" y="4526280"/>
            <a:ext cx="3154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ATX 검증·해결 항목 (상세)</a:t>
            </a:r>
            <a:endParaRPr lang="en-US" sz="1500" dirty="0"/>
          </a:p>
        </p:txBody>
      </p:sp>
      <p:sp>
        <p:nvSpPr>
          <p:cNvPr id="25" name="Shape 18"/>
          <p:cNvSpPr/>
          <p:nvPr/>
        </p:nvSpPr>
        <p:spPr>
          <a:xfrm>
            <a:off x="6355080" y="4526280"/>
            <a:ext cx="52578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blurRad="63500" dist="25400" dir="5400000" algn="bl" rotWithShape="0">
              <a:srgbClr val="B0B8C4">
                <a:alpha val="18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26" name="Text 19"/>
          <p:cNvSpPr/>
          <p:nvPr/>
        </p:nvSpPr>
        <p:spPr>
          <a:xfrm>
            <a:off x="6583680" y="4727448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3400" dirty="0"/>
          </a:p>
        </p:txBody>
      </p:sp>
      <p:pic>
        <p:nvPicPr>
          <p:cNvPr id="27" name="Image 5" descr="icon_5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726680" y="4910328"/>
            <a:ext cx="384048" cy="384048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8275320" y="4526280"/>
            <a:ext cx="3154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그 외 고려사항</a:t>
            </a:r>
            <a:endParaRPr lang="en-US" sz="1500" dirty="0"/>
          </a:p>
        </p:txBody>
      </p:sp>
      <p:sp>
        <p:nvSpPr>
          <p:cNvPr id="29" name="Shape 21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12700">
            <a:solidFill>
              <a:srgbClr val="DCE3EC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0" name="Text 22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x86 Java → Graviton  ·  AWS Transform custom</a:t>
            </a:r>
            <a:endParaRPr lang="en-US" sz="900" dirty="0"/>
          </a:p>
        </p:txBody>
      </p:sp>
      <p:sp>
        <p:nvSpPr>
          <p:cNvPr id="31" name="Text 23"/>
          <p:cNvSpPr/>
          <p:nvPr/>
        </p:nvSpPr>
        <p:spPr>
          <a:xfrm>
            <a:off x="10424160" y="6473952"/>
            <a:ext cx="1216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15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 ·  ATX CUSTOM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ATX Custom이란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298448"/>
            <a:ext cx="822960" cy="54864"/>
          </a:xfrm>
          <a:prstGeom prst="rect">
            <a:avLst/>
          </a:prstGeom>
          <a:solidFill>
            <a:srgbClr val="FF9900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4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Transform custom(ATX)</a:t>
            </a:r>
            <a:r>
              <a:rPr lang="en-US" sz="1400" dirty="0">
                <a:solidFill>
                  <a:srgbClr val="30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은 agentic AI로 엔터프라이즈 전반의 코드·애플리케이션 현대화를 자동화하는 서비스입니다.</a:t>
            </a:r>
            <a:endParaRPr lang="en-US" sz="1400" dirty="0"/>
          </a:p>
        </p:txBody>
      </p:sp>
      <p:pic>
        <p:nvPicPr>
          <p:cNvPr id="6" name="Image 0" descr="icon_6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6928" y="2542032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2468880"/>
            <a:ext cx="5623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30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버전 업그레이드, 런타임/API 마이그레이션, 언어 변환, 아키텍처 분해 등 다양한 시나리오 처리</a:t>
            </a:r>
            <a:endParaRPr lang="en-US" sz="1250" dirty="0"/>
          </a:p>
        </p:txBody>
      </p:sp>
      <p:pic>
        <p:nvPicPr>
          <p:cNvPr id="8" name="Image 1" descr="icon_7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6928" y="3255264"/>
            <a:ext cx="256032" cy="25603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60120" y="3182112"/>
            <a:ext cx="5623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30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코드 샘플·문서·개발자 피드백으로부터 지속적으로 학습(Knowledge Items)</a:t>
            </a:r>
            <a:endParaRPr lang="en-US" sz="1250" dirty="0"/>
          </a:p>
        </p:txBody>
      </p:sp>
      <p:pic>
        <p:nvPicPr>
          <p:cNvPr id="10" name="Image 2" descr="icon_8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6928" y="3968496"/>
            <a:ext cx="256032" cy="25603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60120" y="3895344"/>
            <a:ext cx="5623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30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 한 줄로 실행 · 파이프라인 임베드 · 대규모 캠페인 관리</a:t>
            </a:r>
            <a:endParaRPr lang="en-US" sz="1250" dirty="0"/>
          </a:p>
        </p:txBody>
      </p:sp>
      <p:sp>
        <p:nvSpPr>
          <p:cNvPr id="12" name="Shape 7"/>
          <p:cNvSpPr/>
          <p:nvPr/>
        </p:nvSpPr>
        <p:spPr>
          <a:xfrm>
            <a:off x="548640" y="4800600"/>
            <a:ext cx="2926080" cy="1280160"/>
          </a:xfrm>
          <a:prstGeom prst="roundRect">
            <a:avLst>
              <a:gd name="adj" fmla="val 5714"/>
            </a:avLst>
          </a:prstGeom>
          <a:solidFill>
            <a:srgbClr val="232F3E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3" name="Text 8"/>
          <p:cNvSpPr/>
          <p:nvPr/>
        </p:nvSpPr>
        <p:spPr>
          <a:xfrm>
            <a:off x="685800" y="496519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AWS-Managed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685800" y="5367528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D6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즉시 사용 · AWS 검증 · 지속 확장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3657600" y="4800600"/>
            <a:ext cx="292608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905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6" name="Text 11"/>
          <p:cNvSpPr/>
          <p:nvPr/>
        </p:nvSpPr>
        <p:spPr>
          <a:xfrm>
            <a:off x="3794760" y="496519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3794760" y="5367528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조직 특화 · 한 번 학습 후 계속 사용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6858000" y="1600200"/>
            <a:ext cx="4782312" cy="4480560"/>
          </a:xfrm>
          <a:prstGeom prst="roundRect">
            <a:avLst>
              <a:gd name="adj" fmla="val 1633"/>
            </a:avLst>
          </a:prstGeom>
          <a:solidFill>
            <a:srgbClr val="232F3E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9" name="Text 14"/>
          <p:cNvSpPr/>
          <p:nvPr/>
        </p:nvSpPr>
        <p:spPr>
          <a:xfrm>
            <a:off x="7132320" y="18288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가치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7132320" y="242316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80%+</a:t>
            </a:r>
            <a:endParaRPr lang="en-US" sz="3000" dirty="0"/>
          </a:p>
        </p:txBody>
      </p:sp>
      <p:sp>
        <p:nvSpPr>
          <p:cNvPr id="21" name="Text 16"/>
          <p:cNvSpPr/>
          <p:nvPr/>
        </p:nvSpPr>
        <p:spPr>
          <a:xfrm>
            <a:off x="7150608" y="295351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3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실행시간 단축 (다수 케이스)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7132320" y="3593592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4단계</a:t>
            </a:r>
            <a:endParaRPr lang="en-US" sz="3000" dirty="0"/>
          </a:p>
        </p:txBody>
      </p:sp>
      <p:sp>
        <p:nvSpPr>
          <p:cNvPr id="23" name="Text 18"/>
          <p:cNvSpPr/>
          <p:nvPr/>
        </p:nvSpPr>
        <p:spPr>
          <a:xfrm>
            <a:off x="7150608" y="4123944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3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정의 → 실행 → 검증 → 학습</a:t>
            </a:r>
            <a:endParaRPr lang="en-US" sz="1200" dirty="0"/>
          </a:p>
        </p:txBody>
      </p:sp>
      <p:sp>
        <p:nvSpPr>
          <p:cNvPr id="24" name="Text 19"/>
          <p:cNvSpPr/>
          <p:nvPr/>
        </p:nvSpPr>
        <p:spPr>
          <a:xfrm>
            <a:off x="7132320" y="4764024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1줄</a:t>
            </a:r>
            <a:endParaRPr lang="en-US" sz="3000" dirty="0"/>
          </a:p>
        </p:txBody>
      </p:sp>
      <p:sp>
        <p:nvSpPr>
          <p:cNvPr id="25" name="Text 20"/>
          <p:cNvSpPr/>
          <p:nvPr/>
        </p:nvSpPr>
        <p:spPr>
          <a:xfrm>
            <a:off x="7150608" y="5294376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3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CLI로 자율 실행 가능</a:t>
            </a:r>
            <a:endParaRPr lang="en-US" sz="1200" dirty="0"/>
          </a:p>
        </p:txBody>
      </p:sp>
      <p:sp>
        <p:nvSpPr>
          <p:cNvPr id="26" name="Shape 21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12700">
            <a:solidFill>
              <a:srgbClr val="DCE3EC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7" name="Text 22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x86 Java → Graviton  ·  AWS Transform custom</a:t>
            </a:r>
            <a:endParaRPr lang="en-US" sz="900" dirty="0"/>
          </a:p>
        </p:txBody>
      </p:sp>
      <p:sp>
        <p:nvSpPr>
          <p:cNvPr id="28" name="Text 23"/>
          <p:cNvSpPr/>
          <p:nvPr/>
        </p:nvSpPr>
        <p:spPr>
          <a:xfrm>
            <a:off x="10424160" y="6473952"/>
            <a:ext cx="1216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15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 ·  HOW IT WORKS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변환 에이전트 작동 방식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298448"/>
            <a:ext cx="822960" cy="54864"/>
          </a:xfrm>
          <a:prstGeom prst="rect">
            <a:avLst/>
          </a:prstGeom>
          <a:solidFill>
            <a:srgbClr val="FF9900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5" name="Shape 3"/>
          <p:cNvSpPr/>
          <p:nvPr/>
        </p:nvSpPr>
        <p:spPr>
          <a:xfrm>
            <a:off x="566928" y="1828800"/>
            <a:ext cx="2606040" cy="320040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blurRad="63500" dist="25400" dir="5400000" algn="bl" rotWithShape="0">
              <a:srgbClr val="B0B8C4">
                <a:alpha val="18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6" name="Shape 4"/>
          <p:cNvSpPr/>
          <p:nvPr/>
        </p:nvSpPr>
        <p:spPr>
          <a:xfrm>
            <a:off x="1549908" y="2103120"/>
            <a:ext cx="640080" cy="640080"/>
          </a:xfrm>
          <a:prstGeom prst="ellipse">
            <a:avLst/>
          </a:prstGeom>
          <a:solidFill>
            <a:srgbClr val="232F3E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7" name="Text 5"/>
          <p:cNvSpPr/>
          <p:nvPr/>
        </p:nvSpPr>
        <p:spPr>
          <a:xfrm>
            <a:off x="1549908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pic>
        <p:nvPicPr>
          <p:cNvPr id="8" name="Image 0" descr="icon_9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77340" y="2926080"/>
            <a:ext cx="585216" cy="58521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04088" y="36118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정의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04088" y="395020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749808" y="425196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에이전트와 대화하며 요구사항·참조 문서·코드 샘플 제공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3154680" y="301752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9900"/>
                </a:solidFill>
              </a:rPr>
              <a:t>›</a:t>
            </a:r>
            <a:endParaRPr lang="en-US" sz="2200" dirty="0"/>
          </a:p>
        </p:txBody>
      </p:sp>
      <p:sp>
        <p:nvSpPr>
          <p:cNvPr id="13" name="Shape 10"/>
          <p:cNvSpPr/>
          <p:nvPr/>
        </p:nvSpPr>
        <p:spPr>
          <a:xfrm>
            <a:off x="3429000" y="1828800"/>
            <a:ext cx="2606040" cy="320040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blurRad="63500" dist="25400" dir="5400000" algn="bl" rotWithShape="0">
              <a:srgbClr val="B0B8C4">
                <a:alpha val="18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14" name="Shape 11"/>
          <p:cNvSpPr/>
          <p:nvPr/>
        </p:nvSpPr>
        <p:spPr>
          <a:xfrm>
            <a:off x="4411980" y="2103120"/>
            <a:ext cx="640080" cy="640080"/>
          </a:xfrm>
          <a:prstGeom prst="ellipse">
            <a:avLst/>
          </a:prstGeom>
          <a:solidFill>
            <a:srgbClr val="232F3E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5" name="Text 12"/>
          <p:cNvSpPr/>
          <p:nvPr/>
        </p:nvSpPr>
        <p:spPr>
          <a:xfrm>
            <a:off x="4411980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pic>
        <p:nvPicPr>
          <p:cNvPr id="16" name="Image 1" descr="icon_10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39412" y="2926080"/>
            <a:ext cx="585216" cy="585216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566160" y="36118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실행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3566160" y="395020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3611880" y="425196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인터랙티브(감독) 또는 자율(one-line CLI), 파이프라인 임베드</a:t>
            </a:r>
            <a:endParaRPr lang="en-US" sz="1000" dirty="0"/>
          </a:p>
        </p:txBody>
      </p:sp>
      <p:sp>
        <p:nvSpPr>
          <p:cNvPr id="20" name="Text 16"/>
          <p:cNvSpPr/>
          <p:nvPr/>
        </p:nvSpPr>
        <p:spPr>
          <a:xfrm>
            <a:off x="6016752" y="301752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9900"/>
                </a:solidFill>
              </a:rPr>
              <a:t>›</a:t>
            </a:r>
            <a:endParaRPr lang="en-US" sz="2200" dirty="0"/>
          </a:p>
        </p:txBody>
      </p:sp>
      <p:sp>
        <p:nvSpPr>
          <p:cNvPr id="21" name="Shape 17"/>
          <p:cNvSpPr/>
          <p:nvPr/>
        </p:nvSpPr>
        <p:spPr>
          <a:xfrm>
            <a:off x="6291072" y="1828800"/>
            <a:ext cx="2606040" cy="320040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blurRad="63500" dist="25400" dir="5400000" algn="bl" rotWithShape="0">
              <a:srgbClr val="B0B8C4">
                <a:alpha val="18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22" name="Shape 18"/>
          <p:cNvSpPr/>
          <p:nvPr/>
        </p:nvSpPr>
        <p:spPr>
          <a:xfrm>
            <a:off x="7274052" y="2103120"/>
            <a:ext cx="640080" cy="640080"/>
          </a:xfrm>
          <a:prstGeom prst="ellipse">
            <a:avLst/>
          </a:prstGeom>
          <a:solidFill>
            <a:srgbClr val="232F3E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23" name="Text 19"/>
          <p:cNvSpPr/>
          <p:nvPr/>
        </p:nvSpPr>
        <p:spPr>
          <a:xfrm>
            <a:off x="7274052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pic>
        <p:nvPicPr>
          <p:cNvPr id="24" name="Image 2" descr="icon_11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301484" y="2926080"/>
            <a:ext cx="585216" cy="585216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6428232" y="36118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검증</a:t>
            </a:r>
            <a:endParaRPr lang="en-US" sz="1600" dirty="0"/>
          </a:p>
        </p:txBody>
      </p:sp>
      <p:sp>
        <p:nvSpPr>
          <p:cNvPr id="26" name="Text 21"/>
          <p:cNvSpPr/>
          <p:nvPr/>
        </p:nvSpPr>
        <p:spPr>
          <a:xfrm>
            <a:off x="6428232" y="395020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</a:t>
            </a:r>
            <a:endParaRPr lang="en-US" sz="1000" dirty="0"/>
          </a:p>
        </p:txBody>
      </p:sp>
      <p:sp>
        <p:nvSpPr>
          <p:cNvPr id="27" name="Text 22"/>
          <p:cNvSpPr/>
          <p:nvPr/>
        </p:nvSpPr>
        <p:spPr>
          <a:xfrm>
            <a:off x="6473952" y="425196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코드 리뷰·자동 검증 스크립트·테스트, 실패 시 에이전트 재전송</a:t>
            </a:r>
            <a:endParaRPr lang="en-US" sz="1000" dirty="0"/>
          </a:p>
        </p:txBody>
      </p:sp>
      <p:sp>
        <p:nvSpPr>
          <p:cNvPr id="28" name="Text 23"/>
          <p:cNvSpPr/>
          <p:nvPr/>
        </p:nvSpPr>
        <p:spPr>
          <a:xfrm>
            <a:off x="8878824" y="301752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9900"/>
                </a:solidFill>
              </a:rPr>
              <a:t>›</a:t>
            </a:r>
            <a:endParaRPr lang="en-US" sz="2200" dirty="0"/>
          </a:p>
        </p:txBody>
      </p:sp>
      <p:sp>
        <p:nvSpPr>
          <p:cNvPr id="29" name="Shape 24"/>
          <p:cNvSpPr/>
          <p:nvPr/>
        </p:nvSpPr>
        <p:spPr>
          <a:xfrm>
            <a:off x="9153144" y="1828800"/>
            <a:ext cx="2606040" cy="320040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blurRad="63500" dist="25400" dir="5400000" algn="bl" rotWithShape="0">
              <a:srgbClr val="B0B8C4">
                <a:alpha val="18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30" name="Shape 25"/>
          <p:cNvSpPr/>
          <p:nvPr/>
        </p:nvSpPr>
        <p:spPr>
          <a:xfrm>
            <a:off x="10136124" y="2103120"/>
            <a:ext cx="640080" cy="640080"/>
          </a:xfrm>
          <a:prstGeom prst="ellipse">
            <a:avLst/>
          </a:prstGeom>
          <a:solidFill>
            <a:srgbClr val="232F3E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31" name="Text 26"/>
          <p:cNvSpPr/>
          <p:nvPr/>
        </p:nvSpPr>
        <p:spPr>
          <a:xfrm>
            <a:off x="10136124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pic>
        <p:nvPicPr>
          <p:cNvPr id="32" name="Image 3" descr="icon_12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63556" y="2926080"/>
            <a:ext cx="585216" cy="585216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9290304" y="36118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학습·개선</a:t>
            </a:r>
            <a:endParaRPr lang="en-US" sz="1600" dirty="0"/>
          </a:p>
        </p:txBody>
      </p:sp>
      <p:sp>
        <p:nvSpPr>
          <p:cNvPr id="34" name="Text 28"/>
          <p:cNvSpPr/>
          <p:nvPr/>
        </p:nvSpPr>
        <p:spPr>
          <a:xfrm>
            <a:off x="9290304" y="395020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</a:t>
            </a:r>
            <a:endParaRPr lang="en-US" sz="1000" dirty="0"/>
          </a:p>
        </p:txBody>
      </p:sp>
      <p:sp>
        <p:nvSpPr>
          <p:cNvPr id="35" name="Text 29"/>
          <p:cNvSpPr/>
          <p:nvPr/>
        </p:nvSpPr>
        <p:spPr>
          <a:xfrm>
            <a:off x="9336024" y="425196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완료 시 Knowledge Item 자동 도출, 소유자 검토 후 반영</a:t>
            </a:r>
            <a:endParaRPr lang="en-US" sz="1000" dirty="0"/>
          </a:p>
        </p:txBody>
      </p:sp>
      <p:sp>
        <p:nvSpPr>
          <p:cNvPr id="36" name="Text 30"/>
          <p:cNvSpPr/>
          <p:nvPr/>
        </p:nvSpPr>
        <p:spPr>
          <a:xfrm>
            <a:off x="566928" y="53949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대규모 캠페인 모니터링: AWS Transform CLI + 웹 콘솔</a:t>
            </a:r>
            <a:endParaRPr lang="en-US" sz="1200" dirty="0"/>
          </a:p>
        </p:txBody>
      </p:sp>
      <p:sp>
        <p:nvSpPr>
          <p:cNvPr id="37" name="Shape 31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12700">
            <a:solidFill>
              <a:srgbClr val="DCE3EC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8" name="Text 32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x86 Java → Graviton  ·  AWS Transform custom</a:t>
            </a:r>
            <a:endParaRPr lang="en-US" sz="900" dirty="0"/>
          </a:p>
        </p:txBody>
      </p:sp>
      <p:sp>
        <p:nvSpPr>
          <p:cNvPr id="39" name="Text 33"/>
          <p:cNvSpPr/>
          <p:nvPr/>
        </p:nvSpPr>
        <p:spPr>
          <a:xfrm>
            <a:off x="10424160" y="6473952"/>
            <a:ext cx="1216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15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·  PRICING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가격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298448"/>
            <a:ext cx="822960" cy="54864"/>
          </a:xfrm>
          <a:prstGeom prst="rect">
            <a:avLst/>
          </a:prstGeom>
          <a:solidFill>
            <a:srgbClr val="FF9900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4663440" cy="2286000"/>
          </a:xfrm>
          <a:prstGeom prst="roundRect">
            <a:avLst>
              <a:gd name="adj" fmla="val 3200"/>
            </a:avLst>
          </a:prstGeom>
          <a:solidFill>
            <a:srgbClr val="232F3E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6" name="Text 4"/>
          <p:cNvSpPr/>
          <p:nvPr/>
        </p:nvSpPr>
        <p:spPr>
          <a:xfrm>
            <a:off x="731520" y="1965960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$0.035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758952" y="278892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agent minute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58952" y="329184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3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에이전트가 수행한 작업량(units of work) 기준 과금</a:t>
            </a:r>
            <a:endParaRPr lang="en-US" sz="1200" dirty="0"/>
          </a:p>
        </p:txBody>
      </p:sp>
      <p:pic>
        <p:nvPicPr>
          <p:cNvPr id="9" name="Image 0" descr="icon_13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6928" y="4178808"/>
            <a:ext cx="274320" cy="2743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60120" y="4114800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30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최소 과금 단위: 1분</a:t>
            </a:r>
            <a:endParaRPr lang="en-US" sz="1250" dirty="0"/>
          </a:p>
        </p:txBody>
      </p:sp>
      <p:pic>
        <p:nvPicPr>
          <p:cNvPr id="11" name="Image 1" descr="icon_14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6928" y="4818888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960120" y="4754880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30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계획·추론·분석·코드수정 능동 수행 시간만 과금</a:t>
            </a:r>
            <a:endParaRPr lang="en-US" sz="1250" dirty="0"/>
          </a:p>
        </p:txBody>
      </p:sp>
      <p:pic>
        <p:nvPicPr>
          <p:cNvPr id="13" name="Image 2" descr="icon_15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66928" y="5458968"/>
            <a:ext cx="274320" cy="2743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960120" y="5394960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30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로컬 빌드·테스트·컴파일 대기시간은 미과금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5486400" y="1645920"/>
            <a:ext cx="6153912" cy="44348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blurRad="63500" dist="25400" dir="5400000" algn="bl" rotWithShape="0">
              <a:srgbClr val="B0B8C4">
                <a:alpha val="18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16" name="Text 11"/>
          <p:cNvSpPr/>
          <p:nvPr/>
        </p:nvSpPr>
        <p:spPr>
          <a:xfrm>
            <a:off x="5715000" y="1847088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참고 — 1M LOC Java 업그레이드 비용 비교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5715000" y="23774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0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Transform Custom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9418320" y="23317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1B9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$100–$500</a:t>
            </a:r>
            <a:endParaRPr lang="en-US" sz="1600" dirty="0"/>
          </a:p>
        </p:txBody>
      </p:sp>
      <p:sp>
        <p:nvSpPr>
          <p:cNvPr id="19" name="Shape 14"/>
          <p:cNvSpPr/>
          <p:nvPr/>
        </p:nvSpPr>
        <p:spPr>
          <a:xfrm>
            <a:off x="5715000" y="2743200"/>
            <a:ext cx="2377440" cy="256032"/>
          </a:xfrm>
          <a:prstGeom prst="roundRect">
            <a:avLst>
              <a:gd name="adj" fmla="val 14286"/>
            </a:avLst>
          </a:prstGeom>
          <a:solidFill>
            <a:srgbClr val="1B94A5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20" name="Text 15"/>
          <p:cNvSpPr/>
          <p:nvPr/>
        </p:nvSpPr>
        <p:spPr>
          <a:xfrm>
            <a:off x="5715000" y="32004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0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Kiro (Auto/Sonnet)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9418320" y="31546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$400–$1,000</a:t>
            </a:r>
            <a:endParaRPr lang="en-US" sz="1600" dirty="0"/>
          </a:p>
        </p:txBody>
      </p:sp>
      <p:sp>
        <p:nvSpPr>
          <p:cNvPr id="22" name="Shape 17"/>
          <p:cNvSpPr/>
          <p:nvPr/>
        </p:nvSpPr>
        <p:spPr>
          <a:xfrm>
            <a:off x="5715000" y="3566160"/>
            <a:ext cx="5029200" cy="256032"/>
          </a:xfrm>
          <a:prstGeom prst="roundRect">
            <a:avLst>
              <a:gd name="adj" fmla="val 14286"/>
            </a:avLst>
          </a:prstGeom>
          <a:solidFill>
            <a:srgbClr val="9AA6B4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23" name="Shape 18"/>
          <p:cNvSpPr/>
          <p:nvPr/>
        </p:nvSpPr>
        <p:spPr>
          <a:xfrm>
            <a:off x="5715000" y="4114800"/>
            <a:ext cx="5669280" cy="0"/>
          </a:xfrm>
          <a:prstGeom prst="line">
            <a:avLst/>
          </a:prstGeom>
          <a:noFill/>
          <a:ln w="12700">
            <a:solidFill>
              <a:srgbClr val="DCE3EC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4" name="Text 19"/>
          <p:cNvSpPr/>
          <p:nvPr/>
        </p:nvSpPr>
        <p:spPr>
          <a:xfrm>
            <a:off x="5715000" y="4251960"/>
            <a:ext cx="5669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대규모 일괄 전환(1M+ LOC)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2~5배 비용 효율 · 자동 빌드/테스트 검증 · Knowledge 누적</a:t>
            </a:r>
            <a:endParaRPr lang="en-US" sz="1200" dirty="0"/>
          </a:p>
        </p:txBody>
      </p:sp>
      <p:sp>
        <p:nvSpPr>
          <p:cNvPr id="25" name="Text 20"/>
          <p:cNvSpPr/>
          <p:nvPr/>
        </p:nvSpPr>
        <p:spPr>
          <a:xfrm>
            <a:off x="5715000" y="5212080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권장: 5~10개 모듈로 파일럿 후 비용·품질 baseline 확립</a:t>
            </a:r>
            <a:endParaRPr lang="en-US" sz="1100" dirty="0"/>
          </a:p>
        </p:txBody>
      </p:sp>
      <p:sp>
        <p:nvSpPr>
          <p:cNvPr id="26" name="Shape 21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12700">
            <a:solidFill>
              <a:srgbClr val="DCE3EC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7" name="Text 22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x86 Java → Graviton  ·  AWS Transform custom</a:t>
            </a:r>
            <a:endParaRPr lang="en-US" sz="900" dirty="0"/>
          </a:p>
        </p:txBody>
      </p:sp>
      <p:sp>
        <p:nvSpPr>
          <p:cNvPr id="28" name="Text 23"/>
          <p:cNvSpPr/>
          <p:nvPr/>
        </p:nvSpPr>
        <p:spPr>
          <a:xfrm>
            <a:off x="10424160" y="6473952"/>
            <a:ext cx="1216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·  OVERVIEW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x86 → Graviton 트랜스포메이션 개요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298448"/>
            <a:ext cx="822960" cy="54864"/>
          </a:xfrm>
          <a:prstGeom prst="rect">
            <a:avLst/>
          </a:prstGeom>
          <a:solidFill>
            <a:srgbClr val="FF9900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94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AWS/early-access-java-x86-to-graviton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54864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blurRad="63500" dist="25400" dir="5400000" algn="bl" rotWithShape="0">
              <a:srgbClr val="B0B8C4">
                <a:alpha val="18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7" name="Shape 5"/>
          <p:cNvSpPr/>
          <p:nvPr/>
        </p:nvSpPr>
        <p:spPr>
          <a:xfrm>
            <a:off x="822960" y="2194560"/>
            <a:ext cx="777240" cy="777240"/>
          </a:xfrm>
          <a:prstGeom prst="ellipse">
            <a:avLst/>
          </a:prstGeom>
          <a:solidFill>
            <a:srgbClr val="EAF3F5"/>
          </a:solidFill>
          <a:ln/>
        </p:spPr>
        <p:txBody>
          <a:bodyPr/>
          <a:lstStyle/>
          <a:p>
            <a:endParaRPr lang="en-KR"/>
          </a:p>
        </p:txBody>
      </p:sp>
      <p:pic>
        <p:nvPicPr>
          <p:cNvPr id="8" name="Image 0" descr="icon_16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87552" y="2359152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83080" y="2167128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AWS-Managed · Early Access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783080" y="2834640"/>
            <a:ext cx="3977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AWS가 관리하는 OOB 트랜스포메이션. 즉시 사용 가능, 별도 구축 불필요.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583680" y="1874520"/>
            <a:ext cx="54864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blurRad="63500" dist="25400" dir="5400000" algn="bl" rotWithShape="0">
              <a:srgbClr val="B0B8C4">
                <a:alpha val="18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12" name="Shape 9"/>
          <p:cNvSpPr/>
          <p:nvPr/>
        </p:nvSpPr>
        <p:spPr>
          <a:xfrm>
            <a:off x="6858000" y="2194560"/>
            <a:ext cx="777240" cy="777240"/>
          </a:xfrm>
          <a:prstGeom prst="ellipse">
            <a:avLst/>
          </a:prstGeom>
          <a:solidFill>
            <a:srgbClr val="EAF3F5"/>
          </a:solidFill>
          <a:ln/>
        </p:spPr>
        <p:txBody>
          <a:bodyPr/>
          <a:lstStyle/>
          <a:p>
            <a:endParaRPr lang="en-KR"/>
          </a:p>
        </p:txBody>
      </p:sp>
      <p:pic>
        <p:nvPicPr>
          <p:cNvPr id="13" name="Image 1" descr="icon_17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022592" y="2359152"/>
            <a:ext cx="457200" cy="4572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818120" y="2167128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최소 Java 8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7818120" y="2834640"/>
            <a:ext cx="3977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버전 업그레이드는 포함하지 않음 — java-version-upgrade는 별도 트랜스포메이션.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548640" y="4160520"/>
            <a:ext cx="54864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blurRad="63500" dist="25400" dir="5400000" algn="bl" rotWithShape="0">
              <a:srgbClr val="B0B8C4">
                <a:alpha val="18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17" name="Shape 13"/>
          <p:cNvSpPr/>
          <p:nvPr/>
        </p:nvSpPr>
        <p:spPr>
          <a:xfrm>
            <a:off x="822960" y="4480560"/>
            <a:ext cx="777240" cy="777240"/>
          </a:xfrm>
          <a:prstGeom prst="ellipse">
            <a:avLst/>
          </a:prstGeom>
          <a:solidFill>
            <a:srgbClr val="EAF3F5"/>
          </a:solidFill>
          <a:ln/>
        </p:spPr>
        <p:txBody>
          <a:bodyPr/>
          <a:lstStyle/>
          <a:p>
            <a:endParaRPr lang="en-KR"/>
          </a:p>
        </p:txBody>
      </p:sp>
      <p:pic>
        <p:nvPicPr>
          <p:cNvPr id="18" name="Image 2" descr="icon_18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87552" y="4645152"/>
            <a:ext cx="457200" cy="4572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783080" y="4453128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Arm64 환경 필수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1783080" y="5120640"/>
            <a:ext cx="3977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코드만 읽는 것이 아니라 빌드·native 로드·런타임 검증까지 수행.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6583680" y="4160520"/>
            <a:ext cx="54864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blurRad="63500" dist="25400" dir="5400000" algn="bl" rotWithShape="0">
              <a:srgbClr val="B0B8C4">
                <a:alpha val="18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22" name="Shape 17"/>
          <p:cNvSpPr/>
          <p:nvPr/>
        </p:nvSpPr>
        <p:spPr>
          <a:xfrm>
            <a:off x="6858000" y="4480560"/>
            <a:ext cx="777240" cy="777240"/>
          </a:xfrm>
          <a:prstGeom prst="ellipse">
            <a:avLst/>
          </a:prstGeom>
          <a:solidFill>
            <a:srgbClr val="EAF3F5"/>
          </a:solidFill>
          <a:ln/>
        </p:spPr>
        <p:txBody>
          <a:bodyPr/>
          <a:lstStyle/>
          <a:p>
            <a:endParaRPr lang="en-KR"/>
          </a:p>
        </p:txBody>
      </p:sp>
      <p:pic>
        <p:nvPicPr>
          <p:cNvPr id="23" name="Image 3" descr="icon_19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022592" y="4645152"/>
            <a:ext cx="457200" cy="45720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818120" y="4453128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~1시간 · 300K LOC 이하</a:t>
            </a:r>
            <a:endParaRPr lang="en-US" sz="1500" dirty="0"/>
          </a:p>
        </p:txBody>
      </p:sp>
      <p:sp>
        <p:nvSpPr>
          <p:cNvPr id="25" name="Text 19"/>
          <p:cNvSpPr/>
          <p:nvPr/>
        </p:nvSpPr>
        <p:spPr>
          <a:xfrm>
            <a:off x="7818120" y="5120640"/>
            <a:ext cx="3977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순수 Java는 대개 무수정 동작. 실제 앱은 native/아키텍처 종속 코드가 변수.</a:t>
            </a:r>
            <a:endParaRPr lang="en-US" sz="1150" dirty="0"/>
          </a:p>
        </p:txBody>
      </p:sp>
      <p:sp>
        <p:nvSpPr>
          <p:cNvPr id="26" name="Shape 20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12700">
            <a:solidFill>
              <a:srgbClr val="DCE3EC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7" name="Text 21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x86 Java → Graviton  ·  AWS Transform custom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10424160" y="6473952"/>
            <a:ext cx="1216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·  PREREQUISITES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사전 요구사항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298448"/>
            <a:ext cx="822960" cy="54864"/>
          </a:xfrm>
          <a:prstGeom prst="rect">
            <a:avLst/>
          </a:prstGeom>
          <a:solidFill>
            <a:srgbClr val="FF9900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365760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blurRad="63500" dist="25400" dir="5400000" algn="bl" rotWithShape="0">
              <a:srgbClr val="B0B8C4">
                <a:alpha val="18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pic>
        <p:nvPicPr>
          <p:cNvPr id="6" name="Image 0" descr="icon_20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2960" y="187452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4231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Arm64 실행 환경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822960" y="288036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Graviton EC2 또는 Apple Silicon Mac. x86은 정적분석만 가능(Phase 3 불가).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480560" y="1600200"/>
            <a:ext cx="365760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blurRad="63500" dist="25400" dir="5400000" algn="bl" rotWithShape="0">
              <a:srgbClr val="B0B8C4">
                <a:alpha val="18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pic>
        <p:nvPicPr>
          <p:cNvPr id="10" name="Image 1" descr="icon_21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54880" y="1874520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754880" y="24231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IAM 권한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4754880" y="288036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Transform custom 서비스 접근을 위한 IAM 정책.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8412480" y="1600200"/>
            <a:ext cx="365760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blurRad="63500" dist="25400" dir="5400000" algn="bl" rotWithShape="0">
              <a:srgbClr val="B0B8C4">
                <a:alpha val="18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pic>
        <p:nvPicPr>
          <p:cNvPr id="14" name="Image 2" descr="icon_22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686800" y="1874520"/>
            <a:ext cx="457200" cy="4572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686800" y="24231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Node.js 20+</a:t>
            </a:r>
            <a:endParaRPr lang="en-US" sz="1350" dirty="0"/>
          </a:p>
        </p:txBody>
      </p:sp>
      <p:sp>
        <p:nvSpPr>
          <p:cNvPr id="16" name="Text 11"/>
          <p:cNvSpPr/>
          <p:nvPr/>
        </p:nvSpPr>
        <p:spPr>
          <a:xfrm>
            <a:off x="8686800" y="288036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Transform CLI 요구사항. nodejs.org 공식 설치 권장.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548640" y="3840480"/>
            <a:ext cx="365760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blurRad="63500" dist="25400" dir="5400000" algn="bl" rotWithShape="0">
              <a:srgbClr val="B0B8C4">
                <a:alpha val="18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pic>
        <p:nvPicPr>
          <p:cNvPr id="18" name="Image 3" descr="icon_23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2960" y="4114800"/>
            <a:ext cx="457200" cy="45720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22960" y="46634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822960" y="512064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로컬 버전관리로 단계별 커밋 — 유효한 git repo 필요.</a:t>
            </a:r>
            <a:endParaRPr lang="en-US" sz="1050" dirty="0"/>
          </a:p>
        </p:txBody>
      </p:sp>
      <p:sp>
        <p:nvSpPr>
          <p:cNvPr id="21" name="Shape 15"/>
          <p:cNvSpPr/>
          <p:nvPr/>
        </p:nvSpPr>
        <p:spPr>
          <a:xfrm>
            <a:off x="4480560" y="3840480"/>
            <a:ext cx="365760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blurRad="63500" dist="25400" dir="5400000" algn="bl" rotWithShape="0">
              <a:srgbClr val="B0B8C4">
                <a:alpha val="18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pic>
        <p:nvPicPr>
          <p:cNvPr id="22" name="Image 4" descr="icon_24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754880" y="4114800"/>
            <a:ext cx="457200" cy="45720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4754880" y="46634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JDK(Arm64) + Maven/Gradle</a:t>
            </a:r>
            <a:endParaRPr lang="en-US" sz="1350" dirty="0"/>
          </a:p>
        </p:txBody>
      </p:sp>
      <p:sp>
        <p:nvSpPr>
          <p:cNvPr id="24" name="Text 17"/>
          <p:cNvSpPr/>
          <p:nvPr/>
        </p:nvSpPr>
        <p:spPr>
          <a:xfrm>
            <a:off x="4754880" y="512064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Corretto 권장. 의존성 분석·빌드 검증에 필수.</a:t>
            </a:r>
            <a:endParaRPr lang="en-US" sz="1050" dirty="0"/>
          </a:p>
        </p:txBody>
      </p:sp>
      <p:sp>
        <p:nvSpPr>
          <p:cNvPr id="25" name="Shape 18"/>
          <p:cNvSpPr/>
          <p:nvPr/>
        </p:nvSpPr>
        <p:spPr>
          <a:xfrm>
            <a:off x="8412480" y="3840480"/>
            <a:ext cx="365760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blurRad="63500" dist="25400" dir="5400000" algn="bl" rotWithShape="0">
              <a:srgbClr val="B0B8C4">
                <a:alpha val="18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pic>
        <p:nvPicPr>
          <p:cNvPr id="26" name="Image 5" descr="icon_25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686800" y="4114800"/>
            <a:ext cx="457200" cy="45720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8686800" y="46634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ATX CLI</a:t>
            </a:r>
            <a:endParaRPr lang="en-US" sz="1350" dirty="0"/>
          </a:p>
        </p:txBody>
      </p:sp>
      <p:sp>
        <p:nvSpPr>
          <p:cNvPr id="28" name="Text 20"/>
          <p:cNvSpPr/>
          <p:nvPr/>
        </p:nvSpPr>
        <p:spPr>
          <a:xfrm>
            <a:off x="8686800" y="512064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스크립트로 설치. 프로젝트 소스는 로컬에 존재해야 함.</a:t>
            </a:r>
            <a:endParaRPr lang="en-US" sz="1050" dirty="0"/>
          </a:p>
        </p:txBody>
      </p:sp>
      <p:sp>
        <p:nvSpPr>
          <p:cNvPr id="29" name="Shape 21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12700">
            <a:solidFill>
              <a:srgbClr val="DCE3EC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0" name="Text 22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x86 Java → Graviton  ·  AWS Transform custom</a:t>
            </a:r>
            <a:endParaRPr lang="en-US" sz="900" dirty="0"/>
          </a:p>
        </p:txBody>
      </p:sp>
      <p:sp>
        <p:nvSpPr>
          <p:cNvPr id="31" name="Text 23"/>
          <p:cNvSpPr/>
          <p:nvPr/>
        </p:nvSpPr>
        <p:spPr>
          <a:xfrm>
            <a:off x="10424160" y="6473952"/>
            <a:ext cx="1216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15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 ·  HANDS-ON SCENARIO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실습 시나리오 — 의도적 x86 요소 주입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298448"/>
            <a:ext cx="822960" cy="54864"/>
          </a:xfrm>
          <a:prstGeom prst="rect">
            <a:avLst/>
          </a:prstGeom>
          <a:solidFill>
            <a:srgbClr val="FF9900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순수 Java 샘플앱(Spring Boot 2.7.18 / Java 8)에 ATX가 탐지·해결할 x86 요소를 심어 before/after를 시연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11091672" cy="114300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blurRad="50800" dist="25400" dir="5400000" algn="bl" rotWithShape="0">
              <a:srgbClr val="B0B8C4">
                <a:alpha val="15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7" name="Shape 5"/>
          <p:cNvSpPr/>
          <p:nvPr/>
        </p:nvSpPr>
        <p:spPr>
          <a:xfrm>
            <a:off x="548640" y="1920240"/>
            <a:ext cx="91440" cy="1143000"/>
          </a:xfrm>
          <a:prstGeom prst="rect">
            <a:avLst/>
          </a:prstGeom>
          <a:solidFill>
            <a:srgbClr val="FF9900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8" name="Shape 6"/>
          <p:cNvSpPr/>
          <p:nvPr/>
        </p:nvSpPr>
        <p:spPr>
          <a:xfrm>
            <a:off x="868680" y="2199132"/>
            <a:ext cx="585216" cy="585216"/>
          </a:xfrm>
          <a:prstGeom prst="ellipse">
            <a:avLst/>
          </a:prstGeom>
          <a:solidFill>
            <a:srgbClr val="EEF2F6"/>
          </a:solidFill>
          <a:ln/>
        </p:spPr>
        <p:txBody>
          <a:bodyPr/>
          <a:lstStyle/>
          <a:p>
            <a:endParaRPr lang="en-KR"/>
          </a:p>
        </p:txBody>
      </p:sp>
      <p:pic>
        <p:nvPicPr>
          <p:cNvPr id="9" name="Image 0" descr="icon_52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5840" y="2327148"/>
            <a:ext cx="329184" cy="32918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691640" y="2084832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Native 의존성 3종 (pom.xml)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691640" y="2450592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snappy-java 1.1.8.4 · lz4-java 1.7.1 · netty-transport-native-epoll 4.1.85.Final (linux-x86_64 classifier) — 구버전/ x86 classifier로 ATX가 버전 업데이트·multi-arch 제안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48640" y="3246120"/>
            <a:ext cx="11091672" cy="114300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blurRad="50800" dist="25400" dir="5400000" algn="bl" rotWithShape="0">
              <a:srgbClr val="B0B8C4">
                <a:alpha val="15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13" name="Shape 10"/>
          <p:cNvSpPr/>
          <p:nvPr/>
        </p:nvSpPr>
        <p:spPr>
          <a:xfrm>
            <a:off x="548640" y="3246120"/>
            <a:ext cx="91440" cy="1143000"/>
          </a:xfrm>
          <a:prstGeom prst="rect">
            <a:avLst/>
          </a:prstGeom>
          <a:solidFill>
            <a:srgbClr val="1B94A5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4" name="Shape 11"/>
          <p:cNvSpPr/>
          <p:nvPr/>
        </p:nvSpPr>
        <p:spPr>
          <a:xfrm>
            <a:off x="868680" y="3525012"/>
            <a:ext cx="585216" cy="585216"/>
          </a:xfrm>
          <a:prstGeom prst="ellipse">
            <a:avLst/>
          </a:prstGeom>
          <a:solidFill>
            <a:srgbClr val="EEF2F6"/>
          </a:solidFill>
          <a:ln/>
        </p:spPr>
        <p:txBody>
          <a:bodyPr/>
          <a:lstStyle/>
          <a:p>
            <a:endParaRPr lang="en-KR"/>
          </a:p>
        </p:txBody>
      </p:sp>
      <p:pic>
        <p:nvPicPr>
          <p:cNvPr id="15" name="Image 1" descr="icon_53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05840" y="3653028"/>
            <a:ext cx="329184" cy="32918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691640" y="3410712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아키텍처 하드코딩 코드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1691640" y="3776472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ProcessorArchitecture.java (x86_64 하드코딩) · NativeLibraryLoader.java (x86 전용 .so 경로) — ATX가 Arm64 감지 로직 추가 제안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548640" y="4572000"/>
            <a:ext cx="11091672" cy="114300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blurRad="50800" dist="25400" dir="5400000" algn="bl" rotWithShape="0">
              <a:srgbClr val="B0B8C4">
                <a:alpha val="15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19" name="Shape 15"/>
          <p:cNvSpPr/>
          <p:nvPr/>
        </p:nvSpPr>
        <p:spPr>
          <a:xfrm>
            <a:off x="548640" y="4572000"/>
            <a:ext cx="91440" cy="1143000"/>
          </a:xfrm>
          <a:prstGeom prst="rect">
            <a:avLst/>
          </a:prstGeom>
          <a:solidFill>
            <a:srgbClr val="3B7DD8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20" name="Shape 16"/>
          <p:cNvSpPr/>
          <p:nvPr/>
        </p:nvSpPr>
        <p:spPr>
          <a:xfrm>
            <a:off x="868680" y="4850892"/>
            <a:ext cx="585216" cy="585216"/>
          </a:xfrm>
          <a:prstGeom prst="ellipse">
            <a:avLst/>
          </a:prstGeom>
          <a:solidFill>
            <a:srgbClr val="EEF2F6"/>
          </a:solidFill>
          <a:ln/>
        </p:spPr>
        <p:txBody>
          <a:bodyPr/>
          <a:lstStyle/>
          <a:p>
            <a:endParaRPr lang="en-KR"/>
          </a:p>
        </p:txBody>
      </p:sp>
      <p:pic>
        <p:nvPicPr>
          <p:cNvPr id="21" name="Image 2" descr="icon_54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05840" y="4978908"/>
            <a:ext cx="329184" cy="329184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691640" y="4736592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Snappy 런타임 호출</a:t>
            </a:r>
            <a:endParaRPr lang="en-US" sz="1500" dirty="0"/>
          </a:p>
        </p:txBody>
      </p:sp>
      <p:sp>
        <p:nvSpPr>
          <p:cNvPr id="23" name="Text 18"/>
          <p:cNvSpPr/>
          <p:nvPr/>
        </p:nvSpPr>
        <p:spPr>
          <a:xfrm>
            <a:off x="1691640" y="5102352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UnicornService.compressUnicornProfile() + GET /api/unicorns/{id}/compressed-size — native 코드 경로를 실제 호출해 런타임 검증까지 시연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548640" y="5897880"/>
            <a:ext cx="11091672" cy="566928"/>
          </a:xfrm>
          <a:prstGeom prst="roundRect">
            <a:avLst>
              <a:gd name="adj" fmla="val 8065"/>
            </a:avLst>
          </a:prstGeom>
          <a:solidFill>
            <a:srgbClr val="FFF4E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5" name="Text 20"/>
          <p:cNvSpPr/>
          <p:nvPr/>
        </p:nvSpPr>
        <p:spPr>
          <a:xfrm>
            <a:off x="777240" y="5998464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데모 포인트  </a:t>
            </a:r>
            <a:r>
              <a:rPr lang="en-US" sz="1050" dirty="0">
                <a:solidFill>
                  <a:srgbClr val="30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A·B는 ATX 정적 분석이 탐지 · C는 런타임 호출로 시연 (M1/Graviton은 aarch64라 snappy는 정상 로드 → ATX 가치는 “잠재 리스크 조기 식별·버전 현대화”)</a:t>
            </a:r>
            <a:endParaRPr lang="en-US" sz="1050" dirty="0"/>
          </a:p>
        </p:txBody>
      </p:sp>
      <p:sp>
        <p:nvSpPr>
          <p:cNvPr id="26" name="Shape 21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12700">
            <a:solidFill>
              <a:srgbClr val="DCE3EC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7" name="Text 22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x86 Java → Graviton  ·  AWS Transform custom</a:t>
            </a:r>
            <a:endParaRPr lang="en-US" sz="900" dirty="0"/>
          </a:p>
        </p:txBody>
      </p:sp>
      <p:sp>
        <p:nvSpPr>
          <p:cNvPr id="28" name="Text 23"/>
          <p:cNvSpPr/>
          <p:nvPr/>
        </p:nvSpPr>
        <p:spPr>
          <a:xfrm>
            <a:off x="10424160" y="6473952"/>
            <a:ext cx="1216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15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20577591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·  COMMANDS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실행 절차 — 명령어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298448"/>
            <a:ext cx="822960" cy="54864"/>
          </a:xfrm>
          <a:prstGeom prst="rect">
            <a:avLst/>
          </a:prstGeom>
          <a:solidFill>
            <a:srgbClr val="FF9900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5" name="Shape 3"/>
          <p:cNvSpPr/>
          <p:nvPr/>
        </p:nvSpPr>
        <p:spPr>
          <a:xfrm>
            <a:off x="566928" y="1600200"/>
            <a:ext cx="457200" cy="457200"/>
          </a:xfrm>
          <a:prstGeom prst="ellipse">
            <a:avLst/>
          </a:prstGeom>
          <a:solidFill>
            <a:srgbClr val="232F3E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6" name="Text 4"/>
          <p:cNvSpPr/>
          <p:nvPr/>
        </p:nvSpPr>
        <p:spPr>
          <a:xfrm>
            <a:off x="566928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88720" y="158191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준비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188720" y="1947672"/>
            <a:ext cx="10424160" cy="457200"/>
          </a:xfrm>
          <a:prstGeom prst="rect">
            <a:avLst/>
          </a:prstGeom>
          <a:solidFill>
            <a:srgbClr val="1B2430"/>
          </a:solidFill>
          <a:ln w="12700">
            <a:solidFill>
              <a:srgbClr val="2E3D50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9" name="Text 7"/>
          <p:cNvSpPr/>
          <p:nvPr/>
        </p:nvSpPr>
        <p:spPr>
          <a:xfrm>
            <a:off x="1325880" y="1965960"/>
            <a:ext cx="10149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FE3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프로젝트 &amp;&amp; git init  (또는 git checkout -b demo/atx-graviton)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66928" y="2624328"/>
            <a:ext cx="457200" cy="457200"/>
          </a:xfrm>
          <a:prstGeom prst="ellipse">
            <a:avLst/>
          </a:prstGeom>
          <a:solidFill>
            <a:srgbClr val="232F3E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1" name="Text 9"/>
          <p:cNvSpPr/>
          <p:nvPr/>
        </p:nvSpPr>
        <p:spPr>
          <a:xfrm>
            <a:off x="566928" y="26243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88720" y="26060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목록 확인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1188720" y="2971800"/>
            <a:ext cx="10424160" cy="457200"/>
          </a:xfrm>
          <a:prstGeom prst="rect">
            <a:avLst/>
          </a:prstGeom>
          <a:solidFill>
            <a:srgbClr val="1B2430"/>
          </a:solidFill>
          <a:ln w="12700">
            <a:solidFill>
              <a:srgbClr val="2E3D50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4" name="Text 12"/>
          <p:cNvSpPr/>
          <p:nvPr/>
        </p:nvSpPr>
        <p:spPr>
          <a:xfrm>
            <a:off x="1325880" y="2990088"/>
            <a:ext cx="10149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FE3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atx custom def list | grep -i graviton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66928" y="3648456"/>
            <a:ext cx="457200" cy="457200"/>
          </a:xfrm>
          <a:prstGeom prst="ellipse">
            <a:avLst/>
          </a:prstGeom>
          <a:solidFill>
            <a:srgbClr val="232F3E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6" name="Text 14"/>
          <p:cNvSpPr/>
          <p:nvPr/>
        </p:nvSpPr>
        <p:spPr>
          <a:xfrm>
            <a:off x="566928" y="36484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88720" y="363016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실행 (인터랙티브)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1188720" y="3995928"/>
            <a:ext cx="10424160" cy="457200"/>
          </a:xfrm>
          <a:prstGeom prst="rect">
            <a:avLst/>
          </a:prstGeom>
          <a:solidFill>
            <a:srgbClr val="1B2430"/>
          </a:solidFill>
          <a:ln w="12700">
            <a:solidFill>
              <a:srgbClr val="2E3D50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9" name="Text 17"/>
          <p:cNvSpPr/>
          <p:nvPr/>
        </p:nvSpPr>
        <p:spPr>
          <a:xfrm>
            <a:off x="1325880" y="4014216"/>
            <a:ext cx="10149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FE3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atx custom def exec -n AWS/early-access-java-x86-to-graviton -p . -c "mvn clean verify"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66928" y="4672584"/>
            <a:ext cx="457200" cy="457200"/>
          </a:xfrm>
          <a:prstGeom prst="ellipse">
            <a:avLst/>
          </a:prstGeom>
          <a:solidFill>
            <a:srgbClr val="232F3E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21" name="Text 19"/>
          <p:cNvSpPr/>
          <p:nvPr/>
        </p:nvSpPr>
        <p:spPr>
          <a:xfrm>
            <a:off x="566928" y="46725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188720" y="4654296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비인터랙티브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1188720" y="5020056"/>
            <a:ext cx="10424160" cy="457200"/>
          </a:xfrm>
          <a:prstGeom prst="rect">
            <a:avLst/>
          </a:prstGeom>
          <a:solidFill>
            <a:srgbClr val="1B2430"/>
          </a:solidFill>
          <a:ln w="12700">
            <a:solidFill>
              <a:srgbClr val="2E3D50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4" name="Text 22"/>
          <p:cNvSpPr/>
          <p:nvPr/>
        </p:nvSpPr>
        <p:spPr>
          <a:xfrm>
            <a:off x="1325880" y="5038344"/>
            <a:ext cx="10149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FE3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위 명령 + -x (비인터랙티브) -t (모든 도구 신뢰)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66928" y="5623560"/>
            <a:ext cx="11064240" cy="685800"/>
          </a:xfrm>
          <a:prstGeom prst="roundRect">
            <a:avLst>
              <a:gd name="adj" fmla="val 8000"/>
            </a:avLst>
          </a:prstGeom>
          <a:solidFill>
            <a:srgbClr val="FFF4E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6" name="Text 24"/>
          <p:cNvSpPr/>
          <p:nvPr/>
        </p:nvSpPr>
        <p:spPr>
          <a:xfrm>
            <a:off x="777240" y="5705856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옵션  </a:t>
            </a:r>
            <a:r>
              <a:rPr lang="en-US" sz="1100" dirty="0">
                <a:solidFill>
                  <a:srgbClr val="30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-n 트랜스포메이션명  ·  -p 코드경로  ·  -c 빌드명령  ·  -g 추가컨텍스트(file:// JSON 권장)  ·  --limit Agent Minutes 예산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12700">
            <a:solidFill>
              <a:srgbClr val="DCE3EC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8" name="Text 26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x86 Java → Graviton  ·  AWS Transform custom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424160" y="6473952"/>
            <a:ext cx="1216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15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·  EXECUTION FLOW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실행 흐름 (Interactive Mode)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298448"/>
            <a:ext cx="822960" cy="54864"/>
          </a:xfrm>
          <a:prstGeom prst="rect">
            <a:avLst/>
          </a:prstGeom>
          <a:solidFill>
            <a:srgbClr val="FF9900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5" name="Shape 3"/>
          <p:cNvSpPr/>
          <p:nvPr/>
        </p:nvSpPr>
        <p:spPr>
          <a:xfrm>
            <a:off x="566928" y="1645920"/>
            <a:ext cx="1106424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blurRad="50800" dist="25400" dir="5400000" algn="bl" rotWithShape="0">
              <a:srgbClr val="B0B8C4">
                <a:alpha val="15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6" name="Shape 4"/>
          <p:cNvSpPr/>
          <p:nvPr/>
        </p:nvSpPr>
        <p:spPr>
          <a:xfrm>
            <a:off x="822960" y="1892808"/>
            <a:ext cx="457200" cy="457200"/>
          </a:xfrm>
          <a:prstGeom prst="ellipse">
            <a:avLst/>
          </a:prstGeom>
          <a:solidFill>
            <a:srgbClr val="FF9900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7" name="Text 5"/>
          <p:cNvSpPr/>
          <p:nvPr/>
        </p:nvSpPr>
        <p:spPr>
          <a:xfrm>
            <a:off x="822960" y="1892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pic>
        <p:nvPicPr>
          <p:cNvPr id="8" name="Image 0" descr="icon_26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54480" y="1938528"/>
            <a:ext cx="384048" cy="38404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148840" y="178308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코드베이스 분석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5394960" y="1783080"/>
            <a:ext cx="603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파일 파싱 · 의존성 분석 · native 사용 식별 · 빌드설정/테스트 커버리지 스캔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66928" y="2743200"/>
            <a:ext cx="1106424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blurRad="50800" dist="25400" dir="5400000" algn="bl" rotWithShape="0">
              <a:srgbClr val="B0B8C4">
                <a:alpha val="15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12" name="Shape 9"/>
          <p:cNvSpPr/>
          <p:nvPr/>
        </p:nvSpPr>
        <p:spPr>
          <a:xfrm>
            <a:off x="822960" y="2990088"/>
            <a:ext cx="457200" cy="457200"/>
          </a:xfrm>
          <a:prstGeom prst="ellipse">
            <a:avLst/>
          </a:prstGeom>
          <a:solidFill>
            <a:srgbClr val="FF9900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3" name="Text 10"/>
          <p:cNvSpPr/>
          <p:nvPr/>
        </p:nvSpPr>
        <p:spPr>
          <a:xfrm>
            <a:off x="822960" y="29900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pic>
        <p:nvPicPr>
          <p:cNvPr id="14" name="Image 1" descr="icon_27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54480" y="3035808"/>
            <a:ext cx="384048" cy="38404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148840" y="288036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MIGRATION PLAN 제시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5394960" y="2880360"/>
            <a:ext cx="603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Phase별 변경안을 사전 제시 (의존성/빌드/코드/테스트)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566928" y="3840480"/>
            <a:ext cx="1106424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blurRad="50800" dist="25400" dir="5400000" algn="bl" rotWithShape="0">
              <a:srgbClr val="B0B8C4">
                <a:alpha val="15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18" name="Shape 14"/>
          <p:cNvSpPr/>
          <p:nvPr/>
        </p:nvSpPr>
        <p:spPr>
          <a:xfrm>
            <a:off x="822960" y="4087368"/>
            <a:ext cx="457200" cy="457200"/>
          </a:xfrm>
          <a:prstGeom prst="ellipse">
            <a:avLst/>
          </a:prstGeom>
          <a:solidFill>
            <a:srgbClr val="FF9900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9" name="Text 15"/>
          <p:cNvSpPr/>
          <p:nvPr/>
        </p:nvSpPr>
        <p:spPr>
          <a:xfrm>
            <a:off x="822960" y="4087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pic>
        <p:nvPicPr>
          <p:cNvPr id="20" name="Image 2" descr="icon_28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54480" y="4133088"/>
            <a:ext cx="384048" cy="384048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2148840" y="397764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진행 방식 선택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5394960" y="3977640"/>
            <a:ext cx="603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full / phase-by-phase / Modify / Ask questions / Export</a:t>
            </a:r>
            <a:endParaRPr lang="en-US" sz="1150" dirty="0"/>
          </a:p>
        </p:txBody>
      </p:sp>
      <p:sp>
        <p:nvSpPr>
          <p:cNvPr id="23" name="Shape 18"/>
          <p:cNvSpPr/>
          <p:nvPr/>
        </p:nvSpPr>
        <p:spPr>
          <a:xfrm>
            <a:off x="566928" y="4937760"/>
            <a:ext cx="1106424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blurRad="50800" dist="25400" dir="5400000" algn="bl" rotWithShape="0">
              <a:srgbClr val="B0B8C4">
                <a:alpha val="15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24" name="Shape 19"/>
          <p:cNvSpPr/>
          <p:nvPr/>
        </p:nvSpPr>
        <p:spPr>
          <a:xfrm>
            <a:off x="822960" y="5184648"/>
            <a:ext cx="457200" cy="457200"/>
          </a:xfrm>
          <a:prstGeom prst="ellipse">
            <a:avLst/>
          </a:prstGeom>
          <a:solidFill>
            <a:srgbClr val="FF9900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25" name="Text 20"/>
          <p:cNvSpPr/>
          <p:nvPr/>
        </p:nvSpPr>
        <p:spPr>
          <a:xfrm>
            <a:off x="822960" y="51846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pic>
        <p:nvPicPr>
          <p:cNvPr id="26" name="Image 3" descr="icon_29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54480" y="5230368"/>
            <a:ext cx="384048" cy="384048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2148840" y="507492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단계별 자동 커밋</a:t>
            </a:r>
            <a:endParaRPr lang="en-US" sz="1500" dirty="0"/>
          </a:p>
        </p:txBody>
      </p:sp>
      <p:sp>
        <p:nvSpPr>
          <p:cNvPr id="28" name="Text 22"/>
          <p:cNvSpPr/>
          <p:nvPr/>
        </p:nvSpPr>
        <p:spPr>
          <a:xfrm>
            <a:off x="5394960" y="5074920"/>
            <a:ext cx="603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작업하며 git 커밋 자동 생성 → 커밋 히스토리가 곷 마이그레이션 런북</a:t>
            </a:r>
            <a:endParaRPr lang="en-US" sz="1150" dirty="0"/>
          </a:p>
        </p:txBody>
      </p:sp>
      <p:sp>
        <p:nvSpPr>
          <p:cNvPr id="29" name="Shape 23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12700">
            <a:solidFill>
              <a:srgbClr val="DCE3EC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0" name="Text 24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x86 Java → Graviton  ·  AWS Transform custom</a:t>
            </a:r>
            <a:endParaRPr lang="en-US" sz="900" dirty="0"/>
          </a:p>
        </p:txBody>
      </p:sp>
      <p:sp>
        <p:nvSpPr>
          <p:cNvPr id="31" name="Text 25"/>
          <p:cNvSpPr/>
          <p:nvPr/>
        </p:nvSpPr>
        <p:spPr>
          <a:xfrm>
            <a:off x="10424160" y="6473952"/>
            <a:ext cx="1216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15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 ·  WHAT ATX RESOLVES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ATX가 검증·해결하는 항목 (상세)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298448"/>
            <a:ext cx="822960" cy="54864"/>
          </a:xfrm>
          <a:prstGeom prst="rect">
            <a:avLst/>
          </a:prstGeom>
          <a:solidFill>
            <a:srgbClr val="FF9900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365760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blurRad="63500" dist="25400" dir="5400000" algn="bl" rotWithShape="0">
              <a:srgbClr val="B0B8C4">
                <a:alpha val="18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82296" cy="1920240"/>
          </a:xfrm>
          <a:prstGeom prst="rect">
            <a:avLst/>
          </a:prstGeom>
          <a:solidFill>
            <a:srgbClr val="FF9900"/>
          </a:solidFill>
          <a:ln/>
        </p:spPr>
        <p:txBody>
          <a:bodyPr/>
          <a:lstStyle/>
          <a:p>
            <a:endParaRPr lang="en-KR"/>
          </a:p>
        </p:txBody>
      </p:sp>
      <p:pic>
        <p:nvPicPr>
          <p:cNvPr id="7" name="Image 0" descr="icon_30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41248" y="1874520"/>
            <a:ext cx="438912" cy="43891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41248" y="240487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Native 라이브러리 분석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41248" y="2862072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JNI 의존성 식별 및 Arm64 호환 대체 탐색 (.so 스캔, transitive 포함)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480560" y="1600200"/>
            <a:ext cx="365760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blurRad="63500" dist="25400" dir="5400000" algn="bl" rotWithShape="0">
              <a:srgbClr val="B0B8C4">
                <a:alpha val="18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11" name="Shape 8"/>
          <p:cNvSpPr/>
          <p:nvPr/>
        </p:nvSpPr>
        <p:spPr>
          <a:xfrm>
            <a:off x="4480560" y="1600200"/>
            <a:ext cx="82296" cy="1920240"/>
          </a:xfrm>
          <a:prstGeom prst="rect">
            <a:avLst/>
          </a:prstGeom>
          <a:solidFill>
            <a:srgbClr val="FF9900"/>
          </a:solidFill>
          <a:ln/>
        </p:spPr>
        <p:txBody>
          <a:bodyPr/>
          <a:lstStyle/>
          <a:p>
            <a:endParaRPr lang="en-KR"/>
          </a:p>
        </p:txBody>
      </p:sp>
      <p:pic>
        <p:nvPicPr>
          <p:cNvPr id="12" name="Image 1" descr="icon_31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73168" y="1874520"/>
            <a:ext cx="438912" cy="43891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240487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의존성 업데이트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4773168" y="2862072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Arm64 지원 버전으로 갱신 (예: snappy-java, lz4-java, netty)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8412480" y="1600200"/>
            <a:ext cx="365760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blurRad="63500" dist="25400" dir="5400000" algn="bl" rotWithShape="0">
              <a:srgbClr val="B0B8C4">
                <a:alpha val="18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16" name="Shape 12"/>
          <p:cNvSpPr/>
          <p:nvPr/>
        </p:nvSpPr>
        <p:spPr>
          <a:xfrm>
            <a:off x="8412480" y="1600200"/>
            <a:ext cx="82296" cy="1920240"/>
          </a:xfrm>
          <a:prstGeom prst="rect">
            <a:avLst/>
          </a:prstGeom>
          <a:solidFill>
            <a:srgbClr val="FF9900"/>
          </a:solidFill>
          <a:ln/>
        </p:spPr>
        <p:txBody>
          <a:bodyPr/>
          <a:lstStyle/>
          <a:p>
            <a:endParaRPr lang="en-KR"/>
          </a:p>
        </p:txBody>
      </p:sp>
      <p:pic>
        <p:nvPicPr>
          <p:cNvPr id="17" name="Image 2" descr="icon_32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705088" y="1874520"/>
            <a:ext cx="438912" cy="43891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705088" y="240487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빌드 설정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8705088" y="2862072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Maven/Gradle multi-architecture 빌드 구성, x86 classifier 조정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548640" y="3840480"/>
            <a:ext cx="365760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blurRad="63500" dist="25400" dir="5400000" algn="bl" rotWithShape="0">
              <a:srgbClr val="B0B8C4">
                <a:alpha val="18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21" name="Shape 16"/>
          <p:cNvSpPr/>
          <p:nvPr/>
        </p:nvSpPr>
        <p:spPr>
          <a:xfrm>
            <a:off x="548640" y="3840480"/>
            <a:ext cx="82296" cy="1920240"/>
          </a:xfrm>
          <a:prstGeom prst="rect">
            <a:avLst/>
          </a:prstGeom>
          <a:solidFill>
            <a:srgbClr val="FF9900"/>
          </a:solidFill>
          <a:ln/>
        </p:spPr>
        <p:txBody>
          <a:bodyPr/>
          <a:lstStyle/>
          <a:p>
            <a:endParaRPr lang="en-KR"/>
          </a:p>
        </p:txBody>
      </p:sp>
      <p:pic>
        <p:nvPicPr>
          <p:cNvPr id="22" name="Image 3" descr="icon_33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41248" y="4114800"/>
            <a:ext cx="438912" cy="43891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841248" y="464515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아키텍처 종속 코드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841248" y="5102352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하드코딩된 x86 가정 리팩터 — Arm64 감지 로직 추가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4480560" y="3840480"/>
            <a:ext cx="365760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blurRad="63500" dist="25400" dir="5400000" algn="bl" rotWithShape="0">
              <a:srgbClr val="B0B8C4">
                <a:alpha val="18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26" name="Shape 20"/>
          <p:cNvSpPr/>
          <p:nvPr/>
        </p:nvSpPr>
        <p:spPr>
          <a:xfrm>
            <a:off x="4480560" y="3840480"/>
            <a:ext cx="82296" cy="1920240"/>
          </a:xfrm>
          <a:prstGeom prst="rect">
            <a:avLst/>
          </a:prstGeom>
          <a:solidFill>
            <a:srgbClr val="FF9900"/>
          </a:solidFill>
          <a:ln/>
        </p:spPr>
        <p:txBody>
          <a:bodyPr/>
          <a:lstStyle/>
          <a:p>
            <a:endParaRPr lang="en-KR"/>
          </a:p>
        </p:txBody>
      </p:sp>
      <p:pic>
        <p:nvPicPr>
          <p:cNvPr id="27" name="Image 4" descr="icon_34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773168" y="4114800"/>
            <a:ext cx="438912" cy="43891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4773168" y="464515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단위 테스트</a:t>
            </a:r>
            <a:endParaRPr lang="en-US" sz="1300" dirty="0"/>
          </a:p>
        </p:txBody>
      </p:sp>
      <p:sp>
        <p:nvSpPr>
          <p:cNvPr id="29" name="Text 22"/>
          <p:cNvSpPr/>
          <p:nvPr/>
        </p:nvSpPr>
        <p:spPr>
          <a:xfrm>
            <a:off x="4773168" y="5102352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프로젝트 테스트로 런타임 호환성 검증</a:t>
            </a:r>
            <a:endParaRPr lang="en-US" sz="1050" dirty="0"/>
          </a:p>
        </p:txBody>
      </p:sp>
      <p:sp>
        <p:nvSpPr>
          <p:cNvPr id="30" name="Shape 23"/>
          <p:cNvSpPr/>
          <p:nvPr/>
        </p:nvSpPr>
        <p:spPr>
          <a:xfrm>
            <a:off x="8412480" y="3840480"/>
            <a:ext cx="365760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blurRad="63500" dist="25400" dir="5400000" algn="bl" rotWithShape="0">
              <a:srgbClr val="B0B8C4">
                <a:alpha val="18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31" name="Shape 24"/>
          <p:cNvSpPr/>
          <p:nvPr/>
        </p:nvSpPr>
        <p:spPr>
          <a:xfrm>
            <a:off x="8412480" y="3840480"/>
            <a:ext cx="82296" cy="1920240"/>
          </a:xfrm>
          <a:prstGeom prst="rect">
            <a:avLst/>
          </a:prstGeom>
          <a:solidFill>
            <a:srgbClr val="FF9900"/>
          </a:solidFill>
          <a:ln/>
        </p:spPr>
        <p:txBody>
          <a:bodyPr/>
          <a:lstStyle/>
          <a:p>
            <a:endParaRPr lang="en-KR"/>
          </a:p>
        </p:txBody>
      </p:sp>
      <p:pic>
        <p:nvPicPr>
          <p:cNvPr id="32" name="Image 5" descr="icon_35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705088" y="4114800"/>
            <a:ext cx="438912" cy="438912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8705088" y="464515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문서화</a:t>
            </a:r>
            <a:endParaRPr lang="en-US" sz="1300" dirty="0"/>
          </a:p>
        </p:txBody>
      </p:sp>
      <p:sp>
        <p:nvSpPr>
          <p:cNvPr id="34" name="Text 26"/>
          <p:cNvSpPr/>
          <p:nvPr/>
        </p:nvSpPr>
        <p:spPr>
          <a:xfrm>
            <a:off x="8705088" y="5102352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마이그레이션 노트·런북 생성</a:t>
            </a:r>
            <a:endParaRPr lang="en-US" sz="1050" dirty="0"/>
          </a:p>
        </p:txBody>
      </p:sp>
      <p:sp>
        <p:nvSpPr>
          <p:cNvPr id="35" name="Shape 27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12700">
            <a:solidFill>
              <a:srgbClr val="DCE3EC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6" name="Text 28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x86 Java → Graviton  ·  AWS Transform custom</a:t>
            </a:r>
            <a:endParaRPr lang="en-US" sz="900" dirty="0"/>
          </a:p>
        </p:txBody>
      </p:sp>
      <p:sp>
        <p:nvSpPr>
          <p:cNvPr id="37" name="Text 29"/>
          <p:cNvSpPr/>
          <p:nvPr/>
        </p:nvSpPr>
        <p:spPr>
          <a:xfrm>
            <a:off x="10424160" y="6473952"/>
            <a:ext cx="1216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15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 ·  VALIDATION PIPELINE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3단계 검증 파이프라인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298448"/>
            <a:ext cx="822960" cy="54864"/>
          </a:xfrm>
          <a:prstGeom prst="rect">
            <a:avLst/>
          </a:prstGeom>
          <a:solidFill>
            <a:srgbClr val="FF9900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5" name="Shape 3"/>
          <p:cNvSpPr/>
          <p:nvPr/>
        </p:nvSpPr>
        <p:spPr>
          <a:xfrm>
            <a:off x="566928" y="1828800"/>
            <a:ext cx="356616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blurRad="63500" dist="25400" dir="5400000" algn="bl" rotWithShape="0">
              <a:srgbClr val="B0B8C4">
                <a:alpha val="18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6" name="Shape 4"/>
          <p:cNvSpPr/>
          <p:nvPr/>
        </p:nvSpPr>
        <p:spPr>
          <a:xfrm>
            <a:off x="566928" y="1828800"/>
            <a:ext cx="3566160" cy="640080"/>
          </a:xfrm>
          <a:prstGeom prst="rect">
            <a:avLst/>
          </a:prstGeom>
          <a:solidFill>
            <a:srgbClr val="1B94A5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7" name="Text 5"/>
          <p:cNvSpPr/>
          <p:nvPr/>
        </p:nvSpPr>
        <p:spPr>
          <a:xfrm>
            <a:off x="795528" y="193852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</a:t>
            </a:r>
            <a:endParaRPr lang="en-US" sz="1800" dirty="0"/>
          </a:p>
        </p:txBody>
      </p:sp>
      <p:pic>
        <p:nvPicPr>
          <p:cNvPr id="8" name="Image 0" descr="icon_36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984248" y="2743200"/>
            <a:ext cx="731520" cy="7315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49808" y="36118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Static Analysis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95528" y="4069080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라이브러리(.so), 아키텍처 종속 코드, Arm64 비호환 의존성(transitive 포함) 스캔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096512" y="301752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9900"/>
                </a:solidFill>
              </a:rPr>
              <a:t>→</a:t>
            </a:r>
            <a:endParaRPr lang="en-US" sz="2400" dirty="0"/>
          </a:p>
        </p:txBody>
      </p:sp>
      <p:sp>
        <p:nvSpPr>
          <p:cNvPr id="12" name="Shape 9"/>
          <p:cNvSpPr/>
          <p:nvPr/>
        </p:nvSpPr>
        <p:spPr>
          <a:xfrm>
            <a:off x="4425696" y="1828800"/>
            <a:ext cx="356616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blurRad="63500" dist="25400" dir="5400000" algn="bl" rotWithShape="0">
              <a:srgbClr val="B0B8C4">
                <a:alpha val="18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13" name="Shape 10"/>
          <p:cNvSpPr/>
          <p:nvPr/>
        </p:nvSpPr>
        <p:spPr>
          <a:xfrm>
            <a:off x="4425696" y="1828800"/>
            <a:ext cx="3566160" cy="640080"/>
          </a:xfrm>
          <a:prstGeom prst="rect">
            <a:avLst/>
          </a:prstGeom>
          <a:solidFill>
            <a:srgbClr val="FF9900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4" name="Text 11"/>
          <p:cNvSpPr/>
          <p:nvPr/>
        </p:nvSpPr>
        <p:spPr>
          <a:xfrm>
            <a:off x="4654296" y="193852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</a:t>
            </a:r>
            <a:endParaRPr lang="en-US" sz="1800" dirty="0"/>
          </a:p>
        </p:txBody>
      </p:sp>
      <p:pic>
        <p:nvPicPr>
          <p:cNvPr id="15" name="Image 1" descr="icon_37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843016" y="2743200"/>
            <a:ext cx="731520" cy="73152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608576" y="36118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Compatibility Resolution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4654296" y="4069080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Arm64를 막는 의존성만 업데이트, aarch64 코드 경로 추가, Graviton JVM 플래그 구성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7955280" y="301752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9900"/>
                </a:solidFill>
              </a:rPr>
              <a:t>→</a:t>
            </a:r>
            <a:endParaRPr lang="en-US" sz="2400" dirty="0"/>
          </a:p>
        </p:txBody>
      </p:sp>
      <p:sp>
        <p:nvSpPr>
          <p:cNvPr id="19" name="Shape 15"/>
          <p:cNvSpPr/>
          <p:nvPr/>
        </p:nvSpPr>
        <p:spPr>
          <a:xfrm>
            <a:off x="8284464" y="1828800"/>
            <a:ext cx="356616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blurRad="63500" dist="25400" dir="5400000" algn="bl" rotWithShape="0">
              <a:srgbClr val="B0B8C4">
                <a:alpha val="18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20" name="Shape 16"/>
          <p:cNvSpPr/>
          <p:nvPr/>
        </p:nvSpPr>
        <p:spPr>
          <a:xfrm>
            <a:off x="8284464" y="1828800"/>
            <a:ext cx="3566160" cy="640080"/>
          </a:xfrm>
          <a:prstGeom prst="rect">
            <a:avLst/>
          </a:prstGeom>
          <a:solidFill>
            <a:srgbClr val="3B7DD8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21" name="Text 17"/>
          <p:cNvSpPr/>
          <p:nvPr/>
        </p:nvSpPr>
        <p:spPr>
          <a:xfrm>
            <a:off x="8513064" y="193852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</a:t>
            </a:r>
            <a:endParaRPr lang="en-US" sz="1800" dirty="0"/>
          </a:p>
        </p:txBody>
      </p:sp>
      <p:pic>
        <p:nvPicPr>
          <p:cNvPr id="22" name="Image 2" descr="icon_38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01784" y="2743200"/>
            <a:ext cx="731520" cy="73152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8467344" y="36118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</a:t>
            </a:r>
            <a:endParaRPr lang="en-US" sz="1400" dirty="0"/>
          </a:p>
        </p:txBody>
      </p:sp>
      <p:sp>
        <p:nvSpPr>
          <p:cNvPr id="24" name="Text 19"/>
          <p:cNvSpPr/>
          <p:nvPr/>
        </p:nvSpPr>
        <p:spPr>
          <a:xfrm>
            <a:off x="8513064" y="4069080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Arm64에서 빌드·테스트·기동 검증, 실패 분류, 구조화된 리포트 생성</a:t>
            </a:r>
            <a:endParaRPr lang="en-US" sz="1100" dirty="0"/>
          </a:p>
        </p:txBody>
      </p:sp>
      <p:sp>
        <p:nvSpPr>
          <p:cNvPr id="25" name="Text 20"/>
          <p:cNvSpPr/>
          <p:nvPr/>
        </p:nvSpPr>
        <p:spPr>
          <a:xfrm>
            <a:off x="566928" y="54406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산출물: 프로젝트 루트의 graviton-validation/ 폴더에 구조화된 리포트(00~06) 생성</a:t>
            </a:r>
            <a:endParaRPr lang="en-US" sz="1200" dirty="0"/>
          </a:p>
        </p:txBody>
      </p:sp>
      <p:sp>
        <p:nvSpPr>
          <p:cNvPr id="26" name="Shape 21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12700">
            <a:solidFill>
              <a:srgbClr val="DCE3EC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7" name="Text 22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x86 Java → Graviton  ·  AWS Transform custom</a:t>
            </a:r>
            <a:endParaRPr lang="en-US" sz="900" dirty="0"/>
          </a:p>
        </p:txBody>
      </p:sp>
      <p:sp>
        <p:nvSpPr>
          <p:cNvPr id="28" name="Text 23"/>
          <p:cNvSpPr/>
          <p:nvPr/>
        </p:nvSpPr>
        <p:spPr>
          <a:xfrm>
            <a:off x="10424160" y="6473952"/>
            <a:ext cx="1216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15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 ·  OUTPUT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산출물 — graviton-validation/ 리포트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298448"/>
            <a:ext cx="822960" cy="54864"/>
          </a:xfrm>
          <a:prstGeom prst="rect">
            <a:avLst/>
          </a:prstGeom>
          <a:solidFill>
            <a:srgbClr val="FF9900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11091672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pic>
        <p:nvPicPr>
          <p:cNvPr id="6" name="Image 0" descr="icon_39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9808" y="1737360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07008" y="1600200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32F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00-summary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120640" y="1600200"/>
            <a:ext cx="6336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요약 · exit criteria 체크리스트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48640" y="2258568"/>
            <a:ext cx="11091672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pic>
        <p:nvPicPr>
          <p:cNvPr id="10" name="Image 1" descr="icon_40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9808" y="2395728"/>
            <a:ext cx="292608" cy="29260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07008" y="2258568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32F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01-project-assessment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5120640" y="2258568"/>
            <a:ext cx="6336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프로젝트 구조 · Java 환경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548640" y="2916936"/>
            <a:ext cx="11091672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pic>
        <p:nvPicPr>
          <p:cNvPr id="14" name="Image 2" descr="icon_41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9808" y="3054096"/>
            <a:ext cx="292608" cy="29260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207008" y="2916936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32F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02-native-library-report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5120640" y="2916936"/>
            <a:ext cx="6336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네이티브 라이브러리 발견·해결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548640" y="3575304"/>
            <a:ext cx="11091672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pic>
        <p:nvPicPr>
          <p:cNvPr id="18" name="Image 3" descr="icon_42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9808" y="3712464"/>
            <a:ext cx="292608" cy="29260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207008" y="3575304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32F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03-dependency-compatibility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5120640" y="3575304"/>
            <a:ext cx="6336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의존성별 Arm64 호환 판정</a:t>
            </a:r>
            <a:endParaRPr lang="en-US" sz="1200" dirty="0"/>
          </a:p>
        </p:txBody>
      </p:sp>
      <p:sp>
        <p:nvSpPr>
          <p:cNvPr id="21" name="Shape 15"/>
          <p:cNvSpPr/>
          <p:nvPr/>
        </p:nvSpPr>
        <p:spPr>
          <a:xfrm>
            <a:off x="548640" y="4233672"/>
            <a:ext cx="11091672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pic>
        <p:nvPicPr>
          <p:cNvPr id="22" name="Image 4" descr="icon_43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9808" y="4370832"/>
            <a:ext cx="292608" cy="292608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207008" y="4233672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32F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04-code-scan-findings</a:t>
            </a:r>
            <a:endParaRPr lang="en-US" sz="1300" dirty="0"/>
          </a:p>
        </p:txBody>
      </p:sp>
      <p:sp>
        <p:nvSpPr>
          <p:cNvPr id="24" name="Text 17"/>
          <p:cNvSpPr/>
          <p:nvPr/>
        </p:nvSpPr>
        <p:spPr>
          <a:xfrm>
            <a:off x="5120640" y="4233672"/>
            <a:ext cx="6336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아키텍처 종속 코드 패턴</a:t>
            </a:r>
            <a:endParaRPr lang="en-US" sz="1200" dirty="0"/>
          </a:p>
        </p:txBody>
      </p:sp>
      <p:sp>
        <p:nvSpPr>
          <p:cNvPr id="25" name="Shape 18"/>
          <p:cNvSpPr/>
          <p:nvPr/>
        </p:nvSpPr>
        <p:spPr>
          <a:xfrm>
            <a:off x="548640" y="4892040"/>
            <a:ext cx="11091672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pic>
        <p:nvPicPr>
          <p:cNvPr id="26" name="Image 5" descr="icon_44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9808" y="5029200"/>
            <a:ext cx="292608" cy="292608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1207008" y="4892040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32F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05-jvm-configuration</a:t>
            </a:r>
            <a:endParaRPr lang="en-US" sz="1300" dirty="0"/>
          </a:p>
        </p:txBody>
      </p:sp>
      <p:sp>
        <p:nvSpPr>
          <p:cNvPr id="28" name="Text 20"/>
          <p:cNvSpPr/>
          <p:nvPr/>
        </p:nvSpPr>
        <p:spPr>
          <a:xfrm>
            <a:off x="5120640" y="4892040"/>
            <a:ext cx="6336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Graviton JVM 플래그</a:t>
            </a:r>
            <a:endParaRPr lang="en-US" sz="1200" dirty="0"/>
          </a:p>
        </p:txBody>
      </p:sp>
      <p:sp>
        <p:nvSpPr>
          <p:cNvPr id="29" name="Shape 21"/>
          <p:cNvSpPr/>
          <p:nvPr/>
        </p:nvSpPr>
        <p:spPr>
          <a:xfrm>
            <a:off x="548640" y="5550408"/>
            <a:ext cx="11091672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pic>
        <p:nvPicPr>
          <p:cNvPr id="30" name="Image 6" descr="icon_45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9808" y="5687568"/>
            <a:ext cx="292608" cy="292608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1207008" y="5550408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32F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06-build-test-results</a:t>
            </a:r>
            <a:endParaRPr lang="en-US" sz="1300" dirty="0"/>
          </a:p>
        </p:txBody>
      </p:sp>
      <p:sp>
        <p:nvSpPr>
          <p:cNvPr id="32" name="Text 23"/>
          <p:cNvSpPr/>
          <p:nvPr/>
        </p:nvSpPr>
        <p:spPr>
          <a:xfrm>
            <a:off x="5120640" y="5550408"/>
            <a:ext cx="6336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빌드·테스트 결과</a:t>
            </a:r>
            <a:endParaRPr lang="en-US" sz="1200" dirty="0"/>
          </a:p>
        </p:txBody>
      </p:sp>
      <p:sp>
        <p:nvSpPr>
          <p:cNvPr id="33" name="Text 24"/>
          <p:cNvSpPr/>
          <p:nvPr/>
        </p:nvSpPr>
        <p:spPr>
          <a:xfrm>
            <a:off x="548640" y="62636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94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ATX는 변경 단계마다 git 커밋 → 감사 추적 가능</a:t>
            </a:r>
            <a:endParaRPr lang="en-US" sz="1100" dirty="0"/>
          </a:p>
        </p:txBody>
      </p:sp>
      <p:sp>
        <p:nvSpPr>
          <p:cNvPr id="34" name="Shape 25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12700">
            <a:solidFill>
              <a:srgbClr val="DCE3EC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5" name="Text 26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x86 Java → Graviton  ·  AWS Transform custom</a:t>
            </a:r>
            <a:endParaRPr lang="en-US" sz="900" dirty="0"/>
          </a:p>
        </p:txBody>
      </p:sp>
      <p:sp>
        <p:nvSpPr>
          <p:cNvPr id="36" name="Text 27"/>
          <p:cNvSpPr/>
          <p:nvPr/>
        </p:nvSpPr>
        <p:spPr>
          <a:xfrm>
            <a:off x="10424160" y="6473952"/>
            <a:ext cx="1216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15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 ·  CONSIDERATIONS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그 외 고려사항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298448"/>
            <a:ext cx="822960" cy="54864"/>
          </a:xfrm>
          <a:prstGeom prst="rect">
            <a:avLst/>
          </a:prstGeom>
          <a:solidFill>
            <a:srgbClr val="FF9900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365760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blurRad="63500" dist="25400" dir="5400000" algn="bl" rotWithShape="0">
              <a:srgbClr val="B0B8C4">
                <a:alpha val="18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pic>
        <p:nvPicPr>
          <p:cNvPr id="6" name="Image 0" descr="icon_46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2960" y="1874520"/>
            <a:ext cx="438912" cy="4389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404872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Arm64 필수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22960" y="2807208"/>
            <a:ext cx="3108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x86에서는 이슈 식별(정적분석)만 가능, 빌드/테스트 검증 불가.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480560" y="1600200"/>
            <a:ext cx="365760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blurRad="63500" dist="25400" dir="5400000" algn="bl" rotWithShape="0">
              <a:srgbClr val="B0B8C4">
                <a:alpha val="18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pic>
        <p:nvPicPr>
          <p:cNvPr id="10" name="Image 1" descr="icon_47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54880" y="1874520"/>
            <a:ext cx="438912" cy="43891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754880" y="2404872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버전 업그레이드 선행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4754880" y="2807208"/>
            <a:ext cx="3108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메이저 Java 버전 업그레이드는 먼저 별도 트랜스포메이션으로 완료 권장.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8412480" y="1600200"/>
            <a:ext cx="365760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blurRad="63500" dist="25400" dir="5400000" algn="bl" rotWithShape="0">
              <a:srgbClr val="B0B8C4">
                <a:alpha val="18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pic>
        <p:nvPicPr>
          <p:cNvPr id="14" name="Image 2" descr="icon_48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686800" y="1874520"/>
            <a:ext cx="438912" cy="43891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686800" y="2404872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규모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8686800" y="2807208"/>
            <a:ext cx="3108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300K LOC 이하 리포지토리에서 잘 동작, 앱당 약 1시간.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548640" y="3840480"/>
            <a:ext cx="365760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blurRad="63500" dist="25400" dir="5400000" algn="bl" rotWithShape="0">
              <a:srgbClr val="B0B8C4">
                <a:alpha val="18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pic>
        <p:nvPicPr>
          <p:cNvPr id="18" name="Image 3" descr="icon_49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2960" y="4114800"/>
            <a:ext cx="438912" cy="43891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22960" y="4645152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순수 Java는 무수정 OK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822960" y="5047488"/>
            <a:ext cx="3108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JVM(Corretto/OpenJDK)에서 대개 무수정 동작. ATX는 잠재 리스크를 조기 식별·일괄 평가.</a:t>
            </a:r>
            <a:endParaRPr lang="en-US" sz="1050" dirty="0"/>
          </a:p>
        </p:txBody>
      </p:sp>
      <p:sp>
        <p:nvSpPr>
          <p:cNvPr id="21" name="Shape 15"/>
          <p:cNvSpPr/>
          <p:nvPr/>
        </p:nvSpPr>
        <p:spPr>
          <a:xfrm>
            <a:off x="4480560" y="3840480"/>
            <a:ext cx="365760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blurRad="63500" dist="25400" dir="5400000" algn="bl" rotWithShape="0">
              <a:srgbClr val="B0B8C4">
                <a:alpha val="18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pic>
        <p:nvPicPr>
          <p:cNvPr id="22" name="Image 4" descr="icon_50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754880" y="4114800"/>
            <a:ext cx="438912" cy="438912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4754880" y="4645152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검증 환경 정합</a:t>
            </a:r>
            <a:endParaRPr lang="en-US" sz="1300" dirty="0"/>
          </a:p>
        </p:txBody>
      </p:sp>
      <p:sp>
        <p:nvSpPr>
          <p:cNvPr id="24" name="Text 17"/>
          <p:cNvSpPr/>
          <p:nvPr/>
        </p:nvSpPr>
        <p:spPr>
          <a:xfrm>
            <a:off x="4754880" y="5047488"/>
            <a:ext cx="3108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레벨 비호환까지 잡으려면 배포 대상과 유사한 환경에서 검증 권장.</a:t>
            </a:r>
            <a:endParaRPr lang="en-US" sz="1050" dirty="0"/>
          </a:p>
        </p:txBody>
      </p:sp>
      <p:sp>
        <p:nvSpPr>
          <p:cNvPr id="25" name="Shape 18"/>
          <p:cNvSpPr/>
          <p:nvPr/>
        </p:nvSpPr>
        <p:spPr>
          <a:xfrm>
            <a:off x="8412480" y="3840480"/>
            <a:ext cx="365760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blurRad="63500" dist="25400" dir="5400000" algn="bl" rotWithShape="0">
              <a:srgbClr val="B0B8C4">
                <a:alpha val="18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pic>
        <p:nvPicPr>
          <p:cNvPr id="26" name="Image 5" descr="icon_51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686800" y="4114800"/>
            <a:ext cx="438912" cy="438912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8686800" y="4645152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비용 관리</a:t>
            </a:r>
            <a:endParaRPr lang="en-US" sz="1300" dirty="0"/>
          </a:p>
        </p:txBody>
      </p:sp>
      <p:sp>
        <p:nvSpPr>
          <p:cNvPr id="28" name="Text 20"/>
          <p:cNvSpPr/>
          <p:nvPr/>
        </p:nvSpPr>
        <p:spPr>
          <a:xfrm>
            <a:off x="8686800" y="5047488"/>
            <a:ext cx="3108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minute 과금 · --limit로 Agent Minutes 예산 상한 지정.</a:t>
            </a:r>
            <a:endParaRPr lang="en-US" sz="1050" dirty="0"/>
          </a:p>
        </p:txBody>
      </p:sp>
      <p:sp>
        <p:nvSpPr>
          <p:cNvPr id="29" name="Shape 21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12700">
            <a:solidFill>
              <a:srgbClr val="DCE3EC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0" name="Text 22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x86 Java → Graviton  ·  AWS Transform custom</a:t>
            </a:r>
            <a:endParaRPr lang="en-US" sz="900" dirty="0"/>
          </a:p>
        </p:txBody>
      </p:sp>
      <p:sp>
        <p:nvSpPr>
          <p:cNvPr id="31" name="Text 23"/>
          <p:cNvSpPr/>
          <p:nvPr/>
        </p:nvSpPr>
        <p:spPr>
          <a:xfrm>
            <a:off x="10424160" y="6473952"/>
            <a:ext cx="1216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15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32F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9900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3" name="Text 1"/>
          <p:cNvSpPr/>
          <p:nvPr/>
        </p:nvSpPr>
        <p:spPr>
          <a:xfrm>
            <a:off x="822960" y="73152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요약 &amp; 다음 단계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41248" y="1481328"/>
            <a:ext cx="822960" cy="54864"/>
          </a:xfrm>
          <a:prstGeom prst="rect">
            <a:avLst/>
          </a:prstGeom>
          <a:solidFill>
            <a:srgbClr val="FF9900"/>
          </a:solidFill>
          <a:ln/>
        </p:spPr>
        <p:txBody>
          <a:bodyPr/>
          <a:lstStyle/>
          <a:p>
            <a:endParaRPr lang="en-KR"/>
          </a:p>
        </p:txBody>
      </p:sp>
      <p:pic>
        <p:nvPicPr>
          <p:cNvPr id="5" name="Image 0" descr="icon_55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68680" y="219456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210312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AWS/early-access-java-x86-to-graviton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1371600" y="2532888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B3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native·아키텍처 종속 요소를 자동 식별·해결하고 Arm64에서 빌드·테스트까지 검증</a:t>
            </a:r>
            <a:endParaRPr lang="en-US" sz="1250" dirty="0"/>
          </a:p>
        </p:txBody>
      </p:sp>
      <p:pic>
        <p:nvPicPr>
          <p:cNvPr id="8" name="Image 1" descr="icon_56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68680" y="3337560"/>
            <a:ext cx="365760" cy="3657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71600" y="324612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 줄 CLI 워크플로우</a:t>
            </a:r>
            <a:endParaRPr lang="en-US" sz="1700" dirty="0"/>
          </a:p>
        </p:txBody>
      </p:sp>
      <p:sp>
        <p:nvSpPr>
          <p:cNvPr id="10" name="Text 6"/>
          <p:cNvSpPr/>
          <p:nvPr/>
        </p:nvSpPr>
        <p:spPr>
          <a:xfrm>
            <a:off x="1371600" y="3675888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B3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분석 → 플랜 → 변환 → 검증 → 단계별 커밋</a:t>
            </a:r>
            <a:endParaRPr lang="en-US" sz="1250" dirty="0"/>
          </a:p>
        </p:txBody>
      </p:sp>
      <p:pic>
        <p:nvPicPr>
          <p:cNvPr id="11" name="Image 2" descr="icon_57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68680" y="4480560"/>
            <a:ext cx="365760" cy="36576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371600" y="438912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파일럿으로 시작</a:t>
            </a:r>
            <a:endParaRPr lang="en-US" sz="1700" dirty="0"/>
          </a:p>
        </p:txBody>
      </p:sp>
      <p:sp>
        <p:nvSpPr>
          <p:cNvPr id="13" name="Text 8"/>
          <p:cNvSpPr/>
          <p:nvPr/>
        </p:nvSpPr>
        <p:spPr>
          <a:xfrm>
            <a:off x="1371600" y="4818888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B3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5~10 모듈로 비용·품질 baseline → campaign 모드로 대규모 확장</a:t>
            </a:r>
            <a:endParaRPr lang="en-US" sz="1250" dirty="0"/>
          </a:p>
        </p:txBody>
      </p:sp>
      <p:sp>
        <p:nvSpPr>
          <p:cNvPr id="14" name="Shape 9"/>
          <p:cNvSpPr/>
          <p:nvPr/>
        </p:nvSpPr>
        <p:spPr>
          <a:xfrm>
            <a:off x="822960" y="5669280"/>
            <a:ext cx="10543032" cy="685800"/>
          </a:xfrm>
          <a:prstGeom prst="roundRect">
            <a:avLst>
              <a:gd name="adj" fmla="val 8000"/>
            </a:avLst>
          </a:prstGeom>
          <a:solidFill>
            <a:srgbClr val="2E3D5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5" name="Text 10"/>
          <p:cNvSpPr/>
          <p:nvPr/>
        </p:nvSpPr>
        <p:spPr>
          <a:xfrm>
            <a:off x="1005840" y="5760720"/>
            <a:ext cx="10149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Graviton으로 최대 40% 가격 대비 성능 개선 — 지금 파일럿으로 시작하세요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1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F9E54A9A-80E7-4D4C-8DF9-8E18CBACEF2A}">
  <we:reference id="3d2b7d21-fda6-4380-b3d4-39ac6c78a05c" version="1.0.1.6" store="EXCatalog" storeType="EXCatalog"/>
  <we:alternateReferences/>
  <we:properties>
    <we:property name="Office.AutoShowTaskpaneWithDocument" value="true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1445</Words>
  <Application>Microsoft Macintosh PowerPoint</Application>
  <PresentationFormat>Widescreen</PresentationFormat>
  <Paragraphs>245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x86 Java to Graviton (ATX)</dc:title>
  <dc:subject>PptxGenJS Presentation</dc:subject>
  <dc:creator>HongSeok Kang</dc:creator>
  <cp:lastModifiedBy>Kang, HongSeok</cp:lastModifiedBy>
  <cp:revision>1</cp:revision>
  <dcterms:created xsi:type="dcterms:W3CDTF">2026-08-10T00:22:14Z</dcterms:created>
  <dcterms:modified xsi:type="dcterms:W3CDTF">2026-08-10T00:25:02Z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9e68092-05df-4271-8e3e-b2a4c82ba797_Enabled">
    <vt:lpwstr>true</vt:lpwstr>
  </property>
  <property fmtid="{D5CDD505-2E9C-101B-9397-08002B2CF9AE}" pid="3" name="MSIP_Label_19e68092-05df-4271-8e3e-b2a4c82ba797_SetDate">
    <vt:lpwstr>2026-08-10T00:24:52Z</vt:lpwstr>
  </property>
  <property fmtid="{D5CDD505-2E9C-101B-9397-08002B2CF9AE}" pid="4" name="MSIP_Label_19e68092-05df-4271-8e3e-b2a4c82ba797_Method">
    <vt:lpwstr>Standard</vt:lpwstr>
  </property>
  <property fmtid="{D5CDD505-2E9C-101B-9397-08002B2CF9AE}" pid="5" name="MSIP_Label_19e68092-05df-4271-8e3e-b2a4c82ba797_Name">
    <vt:lpwstr>Amazon Confidential</vt:lpwstr>
  </property>
  <property fmtid="{D5CDD505-2E9C-101B-9397-08002B2CF9AE}" pid="6" name="MSIP_Label_19e68092-05df-4271-8e3e-b2a4c82ba797_SiteId">
    <vt:lpwstr>5280104a-472d-4538-9ccf-1e1d0efe8b1b</vt:lpwstr>
  </property>
  <property fmtid="{D5CDD505-2E9C-101B-9397-08002B2CF9AE}" pid="7" name="MSIP_Label_19e68092-05df-4271-8e3e-b2a4c82ba797_ActionId">
    <vt:lpwstr>fc48e4e0-fa0e-4487-a925-b0ff96c84724</vt:lpwstr>
  </property>
  <property fmtid="{D5CDD505-2E9C-101B-9397-08002B2CF9AE}" pid="8" name="MSIP_Label_19e68092-05df-4271-8e3e-b2a4c82ba797_ContentBits">
    <vt:lpwstr>0</vt:lpwstr>
  </property>
  <property fmtid="{D5CDD505-2E9C-101B-9397-08002B2CF9AE}" pid="9" name="MSIP_Label_19e68092-05df-4271-8e3e-b2a4c82ba797_Tag">
    <vt:lpwstr>50, 3, 0, 1</vt:lpwstr>
  </property>
</Properties>
</file>