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7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92024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731A"/>
                </a:solidFill>
                <a:latin typeface="Apple SD Gothic Neo"/>
              </a:rPr>
              <a:t>AGENTIC AI FOR ARCHITECTURE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304288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" b="1">
                <a:solidFill>
                  <a:srgbClr val="1A1F2B"/>
                </a:solidFill>
                <a:latin typeface="Apple SD Gothic Neo"/>
              </a:rPr>
              <a:t>x86 → Graviton,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" b="1">
                <a:solidFill>
                  <a:srgbClr val="1A1F2B"/>
                </a:solidFill>
                <a:latin typeface="Apple SD Gothic Neo"/>
              </a:rPr>
              <a:t>Day 1 제안으로 끌어오기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50208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Apple SD Gothic Neo"/>
              </a:rPr>
              <a:t>AWS Transform custom · Claude Skills · Kiro — 세 도구를 하나의 지식 레이어로 묶는 방법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4846320"/>
            <a:ext cx="2926080" cy="0"/>
          </a:xfrm>
          <a:prstGeom prst="line">
            <a:avLst/>
          </a:prstGeom>
          <a:ln w="19050">
            <a:solidFill>
              <a:srgbClr val="1A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5047488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A1F2B"/>
                </a:solidFill>
                <a:latin typeface="Apple SD Gothic Neo"/>
              </a:rPr>
              <a:t>분석 · 리팩터 구간을 개월에서 일 단위로 압축한다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D8DCE3"/>
                </a:solidFill>
                <a:latin typeface="Apple SD Gothic Neo"/>
              </a:rPr>
              <a:t>x86 → Graviton  ·  Agentic AI Multi-Tool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84687" y="638251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Apple SD Gothic Neo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8731A"/>
                </a:solidFill>
                <a:latin typeface="Apple SD Gothic Neo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F2B"/>
                </a:solidFill>
                <a:latin typeface="Apple SD Gothic Neo"/>
              </a:rPr>
              <a:t>왜 Graviton은 늘 "Year 2"로 밀리는가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Apple SD Gothic Neo"/>
              </a:rPr>
              <a:t>가치는 합의됐지만, 착수 근거가 없다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517904"/>
            <a:ext cx="10874959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58368" y="1792224"/>
            <a:ext cx="3566160" cy="210312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1031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200" b="1">
                <a:solidFill>
                  <a:srgbClr val="E8731A"/>
                </a:solidFill>
                <a:latin typeface="Apple SD Gothic Neo"/>
              </a:rP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3035808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1A1F2B"/>
                </a:solidFill>
                <a:latin typeface="Apple SD Gothic Neo"/>
              </a:rPr>
              <a:t>up to better price-performance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pple SD Gothic Neo"/>
              </a:rPr>
              <a:t>워크로드에 따라 편차가 크다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1847088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8DCE3"/>
                </a:solidFill>
                <a:latin typeface="Apple SD Gothic Ne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0056" y="1847088"/>
            <a:ext cx="65132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F2B"/>
                </a:solidFill>
                <a:latin typeface="Apple SD Gothic Neo"/>
              </a:rPr>
              <a:t>의존성 호환성을 모른다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0056" y="2157984"/>
            <a:ext cx="64218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Apple SD Gothic Neo"/>
              </a:rPr>
              <a:t>arm64 wheel이 없는 패키지, 깨지는 네이티브 애드온 — 돌려보지 않으면 알 수 없다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596896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8DCE3"/>
                </a:solidFill>
                <a:latin typeface="Apple SD Gothic Ne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0056" y="2596896"/>
            <a:ext cx="65132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F2B"/>
                </a:solidFill>
                <a:latin typeface="Apple SD Gothic Neo"/>
              </a:rPr>
              <a:t>공수 산정이 불가능하다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0056" y="2907792"/>
            <a:ext cx="64218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Apple SD Gothic Neo"/>
              </a:rPr>
              <a:t>리포가 20개면 20번의 미지수. 견적이 안 나오면 제안서에 못 넣는다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346704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8DCE3"/>
                </a:solidFill>
                <a:latin typeface="Apple SD Gothic Ne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0056" y="3346704"/>
            <a:ext cx="65132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F2B"/>
                </a:solidFill>
                <a:latin typeface="Apple SD Gothic Neo"/>
              </a:rPr>
              <a:t>에이전틱 도구를 어떻게 쓰는지 모른다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0056" y="3657600"/>
            <a:ext cx="64218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Apple SD Gothic Neo"/>
              </a:rPr>
              <a:t>도구는 있는데 무엇을 어느 순서로 쓸지에 대한 그림이 없다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23036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45409"/>
                </a:solidFill>
                <a:latin typeface="Apple SD Gothic Neo"/>
              </a:rPr>
              <a:t>결과 — </a:t>
            </a:r>
            <a:r>
              <a:rPr sz="1300" b="1">
                <a:solidFill>
                  <a:srgbClr val="1A1F2B"/>
                </a:solidFill>
                <a:latin typeface="Apple SD Gothic Neo"/>
              </a:rPr>
              <a:t>더 나은 price-performance를 무기한 연기한다.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D8DCE3"/>
                </a:solidFill>
                <a:latin typeface="Apple SD Gothic Neo"/>
              </a:rPr>
              <a:t>x86 → Graviton  ·  Agentic AI Multi-Tool Approach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84687" y="638251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Apple SD Gothic Ne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8731A"/>
                </a:solidFill>
                <a:latin typeface="Apple SD Gothic Neo"/>
              </a:rPr>
              <a:t>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F2B"/>
                </a:solidFill>
                <a:latin typeface="Apple SD Gothic Neo"/>
              </a:rPr>
              <a:t>가장 흔한 오해부터 걷어내기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188720"/>
            <a:ext cx="10874959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58368" y="1463040"/>
            <a:ext cx="10874959" cy="105156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645920"/>
            <a:ext cx="102348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>
                <a:solidFill>
                  <a:srgbClr val="B45409"/>
                </a:solidFill>
                <a:latin typeface="Apple SD Gothic Neo"/>
              </a:rPr>
              <a:t>MYTH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1">
                <a:solidFill>
                  <a:srgbClr val="6B7280"/>
                </a:solidFill>
                <a:latin typeface="Apple SD Gothic Neo"/>
              </a:rPr>
              <a:t>"세 도구가 각 언어별로 Graviton 전환 기능을 제공한다"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8529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E7A54"/>
                </a:solidFill>
                <a:latin typeface="Apple SD Gothic Neo"/>
              </a:rPr>
              <a:t>REALITY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127248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100" b="1">
                <a:solidFill>
                  <a:srgbClr val="1A1F2B"/>
                </a:solidFill>
                <a:latin typeface="Apple SD Gothic Neo"/>
              </a:rPr>
              <a:t>세 도구 모두 </a:t>
            </a:r>
            <a:r>
              <a:rPr sz="2100" b="1">
                <a:solidFill>
                  <a:srgbClr val="E8731A"/>
                </a:solidFill>
                <a:latin typeface="Apple SD Gothic Neo"/>
              </a:rPr>
              <a:t>범용 코딩 에이전트</a:t>
            </a:r>
            <a:r>
              <a:rPr sz="2100" b="1">
                <a:solidFill>
                  <a:srgbClr val="1A1F2B"/>
                </a:solidFill>
                <a:latin typeface="Apple SD Gothic Neo"/>
              </a:rPr>
              <a:t>다.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100" b="1">
                <a:solidFill>
                  <a:srgbClr val="1A1F2B"/>
                </a:solidFill>
                <a:latin typeface="Apple SD Gothic Neo"/>
              </a:rPr>
              <a:t>Graviton 지식은 도구 안에 없다 — 우리가 써서 넣는 문서 안에 있다.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4590288"/>
            <a:ext cx="10874959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482803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Apple SD Gothic Neo"/>
              </a:rPr>
              <a:t>도구에 내장된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10235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Apple SD Gothic Neo"/>
              </a:rPr>
              <a:t>파일 편집, 셸 실행, 빌드 루프, 권한 제어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482803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F2B"/>
                </a:solidFill>
                <a:latin typeface="Apple SD Gothic Neo"/>
              </a:rPr>
              <a:t>우리가 넣는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510235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Apple SD Gothic Neo"/>
              </a:rPr>
              <a:t>비호환 패턴, 인스턴스 매핑, 검증 명령, 조직 규칙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87044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F2B"/>
                </a:solidFill>
                <a:latin typeface="Apple SD Gothic Neo"/>
              </a:rPr>
              <a:t>→ 그래서 비교 축은 "언어 지원"이 아니라 규모와 거버넌스다.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382512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D8DCE3"/>
                </a:solidFill>
                <a:latin typeface="Apple SD Gothic Neo"/>
              </a:rPr>
              <a:t>x86 → Graviton  ·  Agentic AI Multi-Tool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84687" y="638251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Apple SD Gothic Ne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8731A"/>
                </a:solidFill>
                <a:latin typeface="Apple SD Gothic Neo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F2B"/>
                </a:solidFill>
                <a:latin typeface="Apple SD Gothic Neo"/>
              </a:rPr>
              <a:t>세 도구가 실제로 갈리는 지점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Apple SD Gothic Neo"/>
              </a:rPr>
              <a:t>같은 일을 하는 도구가 아니라, 다른 규모를 담당하는 도구다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517904"/>
            <a:ext cx="10874959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9808" y="1856232"/>
            <a:ext cx="21854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Apple SD Gothic Neo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81528" y="1856232"/>
            <a:ext cx="273405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Apple SD Gothic Neo"/>
              </a:rPr>
              <a:t>AWS Transform custom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1888" y="1856232"/>
            <a:ext cx="26426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Apple SD Gothic Neo"/>
              </a:rPr>
              <a:t>Claude Code (Skills)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50808" y="1856232"/>
            <a:ext cx="2724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Apple SD Gothic Neo"/>
              </a:rPr>
              <a:t>Kiro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2157984"/>
            <a:ext cx="10874959" cy="0"/>
          </a:xfrm>
          <a:prstGeom prst="line">
            <a:avLst/>
          </a:prstGeom>
          <a:ln w="15875">
            <a:solidFill>
              <a:srgbClr val="1A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9808" y="2157984"/>
            <a:ext cx="21854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F2B"/>
                </a:solidFill>
                <a:latin typeface="Apple SD Gothic Neo"/>
              </a:rPr>
              <a:t>형태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2157984"/>
            <a:ext cx="273405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F2B"/>
                </a:solidFill>
                <a:latin typeface="Apple SD Gothic Neo"/>
              </a:rPr>
              <a:t>CLI · 로컬 실행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2157984"/>
            <a:ext cx="26426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F2B"/>
                </a:solidFill>
                <a:latin typeface="Apple SD Gothic Neo"/>
              </a:rPr>
              <a:t>CLI / IDE / 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808" y="2157984"/>
            <a:ext cx="2724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F2B"/>
                </a:solidFill>
                <a:latin typeface="Apple SD Gothic Neo"/>
              </a:rPr>
              <a:t>IDE · CLI · 웹 · 모바일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2523744"/>
            <a:ext cx="10874959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58368" y="2523744"/>
            <a:ext cx="10874959" cy="36576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523744"/>
            <a:ext cx="21854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F2B"/>
                </a:solidFill>
                <a:latin typeface="Apple SD Gothic Neo"/>
              </a:rPr>
              <a:t>지식 저장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2523744"/>
            <a:ext cx="273405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8731A"/>
                </a:solidFill>
                <a:latin typeface="Apple SD Gothic Neo"/>
              </a:rPr>
              <a:t>계정 레지스트리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1888" y="2523744"/>
            <a:ext cx="26426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15F3C"/>
                </a:solidFill>
                <a:latin typeface="Apple SD Gothic Neo"/>
              </a:rPr>
              <a:t>.agents/skills/ (로컬)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0808" y="2523744"/>
            <a:ext cx="2724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B63D3"/>
                </a:solidFill>
                <a:latin typeface="Apple SD Gothic Neo"/>
              </a:rPr>
              <a:t>.kiro/ (git)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2889504"/>
            <a:ext cx="10874959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9808" y="2889504"/>
            <a:ext cx="21854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F2B"/>
                </a:solidFill>
                <a:latin typeface="Apple SD Gothic Neo"/>
              </a:rPr>
              <a:t>팀 공유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81528" y="2889504"/>
            <a:ext cx="273405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E7A54"/>
                </a:solidFill>
                <a:latin typeface="Apple SD Gothic Neo"/>
              </a:rPr>
              <a:t>IAM · 버전 · 태그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61888" y="2889504"/>
            <a:ext cx="26426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F2B"/>
                </a:solidFill>
                <a:latin typeface="Apple SD Gothic Neo"/>
              </a:rPr>
              <a:t>git 커밋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0808" y="2889504"/>
            <a:ext cx="2724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F2B"/>
                </a:solidFill>
                <a:latin typeface="Apple SD Gothic Neo"/>
              </a:rPr>
              <a:t>git · MDM 배포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3255264"/>
            <a:ext cx="10874959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58368" y="3255264"/>
            <a:ext cx="10874959" cy="36576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3255264"/>
            <a:ext cx="21854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F2B"/>
                </a:solidFill>
                <a:latin typeface="Apple SD Gothic Neo"/>
              </a:rPr>
              <a:t>자동 학습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81528" y="3255264"/>
            <a:ext cx="273405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E7A54"/>
                </a:solidFill>
                <a:latin typeface="Apple SD Gothic Neo"/>
              </a:rPr>
              <a:t>continual learning 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61888" y="3255264"/>
            <a:ext cx="26426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45409"/>
                </a:solidFill>
                <a:latin typeface="Apple SD Gothic Neo"/>
              </a:rPr>
              <a:t>없음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50808" y="3255264"/>
            <a:ext cx="2724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45409"/>
                </a:solidFill>
                <a:latin typeface="Apple SD Gothic Neo"/>
              </a:rPr>
              <a:t>없음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8368" y="3621024"/>
            <a:ext cx="10874959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49808" y="3621024"/>
            <a:ext cx="21854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F2B"/>
                </a:solidFill>
                <a:latin typeface="Apple SD Gothic Neo"/>
              </a:rPr>
              <a:t>다중 리포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81528" y="3621024"/>
            <a:ext cx="273405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E7A54"/>
                </a:solidFill>
                <a:latin typeface="Apple SD Gothic Neo"/>
              </a:rPr>
              <a:t>벌크 실행 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61888" y="3621024"/>
            <a:ext cx="26426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45409"/>
                </a:solidFill>
                <a:latin typeface="Apple SD Gothic Neo"/>
              </a:rPr>
              <a:t>하나씩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50808" y="3621024"/>
            <a:ext cx="2724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E7A54"/>
                </a:solidFill>
                <a:latin typeface="Apple SD Gothic Neo"/>
              </a:rPr>
              <a:t>웹: multi-repo ✓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8368" y="3986784"/>
            <a:ext cx="10874959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658368" y="3986784"/>
            <a:ext cx="10874959" cy="36576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3986784"/>
            <a:ext cx="21854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F2B"/>
                </a:solidFill>
                <a:latin typeface="Apple SD Gothic Neo"/>
              </a:rPr>
              <a:t>상시 규칙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81528" y="3986784"/>
            <a:ext cx="273405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F2B"/>
                </a:solidFill>
                <a:latin typeface="Apple SD Gothic Neo"/>
              </a:rPr>
              <a:t>정의 내부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61888" y="3986784"/>
            <a:ext cx="26426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F2B"/>
                </a:solidFill>
                <a:latin typeface="Apple SD Gothic Neo"/>
              </a:rPr>
              <a:t>스킬 (호출 시)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50808" y="3986784"/>
            <a:ext cx="2724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E7A54"/>
                </a:solidFill>
                <a:latin typeface="Apple SD Gothic Neo"/>
              </a:rPr>
              <a:t>Steering (항상) ✓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58368" y="4352544"/>
            <a:ext cx="10874959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49808" y="4352544"/>
            <a:ext cx="21854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F2B"/>
                </a:solidFill>
                <a:latin typeface="Apple SD Gothic Neo"/>
              </a:rPr>
              <a:t>계획 산출물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81528" y="4352544"/>
            <a:ext cx="273405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F2B"/>
                </a:solidFill>
                <a:latin typeface="Apple SD Gothic Neo"/>
              </a:rPr>
              <a:t>변환 정의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61888" y="4352544"/>
            <a:ext cx="26426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F2B"/>
                </a:solidFill>
                <a:latin typeface="Apple SD Gothic Neo"/>
              </a:rPr>
              <a:t>대화 + 코드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50808" y="4352544"/>
            <a:ext cx="2724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E7A54"/>
                </a:solidFill>
                <a:latin typeface="Apple SD Gothic Neo"/>
              </a:rPr>
              <a:t>Specs 문서 ✓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58368" y="4718304"/>
            <a:ext cx="10874959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58368" y="4919472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>
                <a:solidFill>
                  <a:srgbClr val="1A1F2B"/>
                </a:solidFill>
                <a:latin typeface="Apple SD Gothic Neo"/>
              </a:rPr>
              <a:t>배타적이지 않다 — </a:t>
            </a:r>
            <a:r>
              <a:rPr sz="1250" b="0">
                <a:solidFill>
                  <a:srgbClr val="6B7280"/>
                </a:solidFill>
                <a:latin typeface="Apple SD Gothic Neo"/>
              </a:rPr>
              <a:t>.agents/skills/ 는 cross-client이고 Kiro는 AGENTS.md 표준을 읽는다. 지식 레이어를 한 번 쓰면 세 도구가 공유한다.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6382512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D8DCE3"/>
                </a:solidFill>
                <a:latin typeface="Apple SD Gothic Neo"/>
              </a:rPr>
              <a:t>x86 → Graviton  ·  Agentic AI Multi-Tool Approach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84687" y="638251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Apple SD Gothic Ne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8731A"/>
                </a:solidFill>
                <a:latin typeface="Apple SD Gothic Neo"/>
              </a:rPr>
              <a:t>DECISION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F2B"/>
                </a:solidFill>
                <a:latin typeface="Apple SD Gothic Neo"/>
              </a:rPr>
              <a:t>언제 어느 도구를 쓰는가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Apple SD Gothic Neo"/>
              </a:rPr>
              <a:t>선택 기준은 리포 개수와 검토 방식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517904"/>
            <a:ext cx="10874959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58368" y="1792224"/>
            <a:ext cx="3602736" cy="2487168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92224"/>
            <a:ext cx="3602736" cy="6858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054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Apple SD Gothic Neo"/>
              </a:rPr>
              <a:t>리포 3개 이하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30540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C15F3C"/>
                </a:solidFill>
                <a:latin typeface="Apple SD Gothic Neo"/>
              </a:rPr>
              <a:t>Claude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80944"/>
            <a:ext cx="3090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1A1F2B"/>
                </a:solidFill>
                <a:latin typeface="Apple SD Gothic Neo"/>
              </a:rPr>
              <a:t>변환 정의를 만들고 파일럿을 돌리는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1A1F2B"/>
                </a:solidFill>
                <a:latin typeface="Apple SD Gothic Neo"/>
              </a:rPr>
              <a:t>오버헤드가 실작업보다 크다.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1A1F2B"/>
                </a:solidFill>
                <a:latin typeface="Apple SD Gothic Neo"/>
              </a:rPr>
              <a:t>그냥 붙어서 고치는 게 빠르다.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8848" y="1792224"/>
            <a:ext cx="3602736" cy="2487168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1792224"/>
            <a:ext cx="3602736" cy="68580"/>
          </a:xfrm>
          <a:prstGeom prst="rect">
            <a:avLst/>
          </a:prstGeom>
          <a:solidFill>
            <a:srgbClr val="E87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2121408"/>
            <a:ext cx="3054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Apple SD Gothic Neo"/>
              </a:rPr>
              <a:t>리포 20개 이상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395728"/>
            <a:ext cx="30540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E8731A"/>
                </a:solidFill>
                <a:latin typeface="Apple SD Gothic Neo"/>
              </a:rPr>
              <a:t>AWS Transform custom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980944"/>
            <a:ext cx="3090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1A1F2B"/>
                </a:solidFill>
                <a:latin typeface="Apple SD Gothic Neo"/>
              </a:rPr>
              <a:t>반복하며 품질이 올라가는 구조는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1A1F2B"/>
                </a:solidFill>
                <a:latin typeface="Apple SD Gothic Neo"/>
              </a:rPr>
              <a:t>continual learning뿐이다.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1A1F2B"/>
                </a:solidFill>
                <a:latin typeface="Apple SD Gothic Neo"/>
              </a:rPr>
              <a:t>레지스트리 · IAM 거버넌스가 붙는다.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39328" y="1792224"/>
            <a:ext cx="3602736" cy="2487168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39328" y="1792224"/>
            <a:ext cx="3602736" cy="68580"/>
          </a:xfrm>
          <a:prstGeom prst="rect">
            <a:avLst/>
          </a:prstGeom>
          <a:solidFill>
            <a:srgbClr val="5B6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13648" y="2121408"/>
            <a:ext cx="3054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Apple SD Gothic Neo"/>
              </a:rPr>
              <a:t>IDE 내 개발자 루프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2395728"/>
            <a:ext cx="30540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5B63D3"/>
                </a:solidFill>
                <a:latin typeface="Apple SD Gothic Neo"/>
              </a:rPr>
              <a:t>Kiro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980944"/>
            <a:ext cx="3090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1A1F2B"/>
                </a:solidFill>
                <a:latin typeface="Apple SD Gothic Neo"/>
              </a:rPr>
              <a:t>Steering이 arm64 규칙을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1A1F2B"/>
                </a:solidFill>
                <a:latin typeface="Apple SD Gothic Neo"/>
              </a:rPr>
              <a:t>모든 상호작용에 상시 강제한다.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1A1F2B"/>
                </a:solidFill>
                <a:latin typeface="Apple SD Gothic Neo"/>
              </a:rPr>
              <a:t>Specs로 계획을 문서로 남긴다.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4663440"/>
            <a:ext cx="10874959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4901184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1">
                <a:solidFill>
                  <a:srgbClr val="1A1F2B"/>
                </a:solidFill>
                <a:latin typeface="Apple SD Gothic Neo"/>
              </a:rPr>
              <a:t>실무에서는 셋을 순차로 쓴다.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Apple SD Gothic Neo"/>
              </a:rPr>
              <a:t>파일럿으로 실패 유형을 밝히고 → 스킬로 굳히고 → 벌크로 밀고 → IDE에서 마무리한다.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82512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D8DCE3"/>
                </a:solidFill>
                <a:latin typeface="Apple SD Gothic Neo"/>
              </a:rPr>
              <a:t>x86 → Graviton  ·  Agentic AI Multi-Tool Approach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84687" y="638251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Apple SD Gothic Ne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8731A"/>
                </a:solidFill>
                <a:latin typeface="Apple SD Gothic Neo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F2B"/>
                </a:solidFill>
                <a:latin typeface="Apple SD Gothic Neo"/>
              </a:rPr>
              <a:t>실제 순서 — 지식 레이어를 중심에 둔다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188720"/>
            <a:ext cx="10874959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58368" y="1463040"/>
            <a:ext cx="2670048" cy="2651760"/>
          </a:xfrm>
          <a:prstGeom prst="rect">
            <a:avLst/>
          </a:prstGeom>
          <a:noFill/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15F3C"/>
                </a:solidFill>
                <a:latin typeface="Apple SD Gothic Ne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76272"/>
            <a:ext cx="22128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F2B"/>
                </a:solidFill>
                <a:latin typeface="Apple SD Gothic Neo"/>
              </a:rPr>
              <a:t>파일럿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05455"/>
            <a:ext cx="2212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15F3C"/>
                </a:solidFill>
                <a:latin typeface="Apple SD Gothic Neo"/>
              </a:rPr>
              <a:t>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07792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Apple SD Gothic Neo"/>
              </a:rPr>
              <a:t>리포 1~2개를 linux/arm64에서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Apple SD Gothic Neo"/>
              </a:rPr>
              <a:t>실제로 빌드·테스트한다.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Apple SD Gothic Neo"/>
              </a:rPr>
              <a:t>실패 유형은 돌려봐야 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6704" y="26517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8DCE3"/>
                </a:solidFill>
                <a:latin typeface="Apple SD Gothic Neo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9584" y="1463040"/>
            <a:ext cx="2670048" cy="2651760"/>
          </a:xfrm>
          <a:prstGeom prst="rect">
            <a:avLst/>
          </a:prstGeom>
          <a:noFill/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168249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15F3C"/>
                </a:solidFill>
                <a:latin typeface="Apple SD Gothic Ne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176272"/>
            <a:ext cx="22128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F2B"/>
                </a:solidFill>
                <a:latin typeface="Apple SD Gothic Neo"/>
              </a:rPr>
              <a:t>지식 레이어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505455"/>
            <a:ext cx="2212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15F3C"/>
                </a:solidFill>
                <a:latin typeface="Apple SD Gothic Neo"/>
              </a:rPr>
              <a:t>Claude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907792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Apple SD Gothic Neo"/>
              </a:rPr>
              <a:t>SKILL.md + references/ +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Apple SD Gothic Neo"/>
              </a:rPr>
              <a:t>결정론적 스캔 scripts/.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Apple SD Gothic Neo"/>
              </a:rPr>
              <a:t>.agents/skills/ → 세 도구 공유.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517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8DCE3"/>
                </a:solidFill>
                <a:latin typeface="Apple SD Gothic Neo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463040"/>
            <a:ext cx="2670048" cy="2651760"/>
          </a:xfrm>
          <a:prstGeom prst="rect">
            <a:avLst/>
          </a:prstGeom>
          <a:noFill/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38544" y="168249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E8731A"/>
                </a:solidFill>
                <a:latin typeface="Apple SD Gothic Ne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2176272"/>
            <a:ext cx="22128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F2B"/>
                </a:solidFill>
                <a:latin typeface="Apple SD Gothic Neo"/>
              </a:rPr>
              <a:t>스케일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2505455"/>
            <a:ext cx="2212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8731A"/>
                </a:solidFill>
                <a:latin typeface="Apple SD Gothic Neo"/>
              </a:rPr>
              <a:t>AWS Transform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2907792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Apple SD Gothic Neo"/>
              </a:rPr>
              <a:t>변환 정의로 publish 후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Apple SD Gothic Neo"/>
              </a:rPr>
              <a:t>나머지 리포에 벌크 실행.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Apple SD Gothic Neo"/>
              </a:rPr>
              <a:t>lesson이 쌓이며 좋아진다.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6517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8DCE3"/>
                </a:solidFill>
                <a:latin typeface="Apple SD Gothic Neo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72016" y="1463040"/>
            <a:ext cx="2670048" cy="2651760"/>
          </a:xfrm>
          <a:prstGeom prst="rect">
            <a:avLst/>
          </a:prstGeom>
          <a:noFill/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168249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5B63D3"/>
                </a:solidFill>
                <a:latin typeface="Apple SD Gothic Neo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176272"/>
            <a:ext cx="22128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F2B"/>
                </a:solidFill>
                <a:latin typeface="Apple SD Gothic Neo"/>
              </a:rPr>
              <a:t>개발자 루프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2505455"/>
            <a:ext cx="2212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5B63D3"/>
                </a:solidFill>
                <a:latin typeface="Apple SD Gothic Neo"/>
              </a:rPr>
              <a:t>Kiro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907792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Apple SD Gothic Neo"/>
              </a:rPr>
              <a:t>PR 리뷰 · 잔여 수정.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Apple SD Gothic Neo"/>
              </a:rPr>
              <a:t>arm64 규칙은 Steering으로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Apple SD Gothic Neo"/>
              </a:rPr>
              <a:t>상시 강제한다.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846320"/>
            <a:ext cx="10874959" cy="841248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010912"/>
            <a:ext cx="103263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1">
                <a:solidFill>
                  <a:srgbClr val="B45409"/>
                </a:solidFill>
                <a:latin typeface="Apple SD Gothic Neo"/>
              </a:rPr>
              <a:t>주의 — </a:t>
            </a:r>
            <a:r>
              <a:rPr sz="1300" b="1">
                <a:solidFill>
                  <a:srgbClr val="1A1F2B"/>
                </a:solidFill>
                <a:latin typeface="Apple SD Gothic Neo"/>
              </a:rPr>
              <a:t>파일럿을 건너뛰고 02부터 시작하면 순서가 거꾸로다. 변환 정의 품질이 곧 벌크 실행 결과다.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Apple SD Gothic Neo"/>
              </a:rPr>
              <a:t>AWS 문서도 "결정론적 검증 명령이 lesson 품질에 매우 중요하다"고 명시한다.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82512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D8DCE3"/>
                </a:solidFill>
                <a:latin typeface="Apple SD Gothic Neo"/>
              </a:rPr>
              <a:t>x86 → Graviton  ·  Agentic AI Multi-Tool Approach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84687" y="638251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Apple SD Gothic Ne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8731A"/>
                </a:solidFill>
                <a:latin typeface="Apple SD Gothic Neo"/>
              </a:rPr>
              <a:t>THE ARTIFACT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F2B"/>
                </a:solidFill>
                <a:latin typeface="Apple SD Gothic Neo"/>
              </a:rPr>
              <a:t>지식 레이어의 실체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Apple SD Gothic Neo"/>
              </a:rPr>
              <a:t>세 도구가 공유하는 것 — 사람이 한 번 쓰고 계속 재사용한다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517904"/>
            <a:ext cx="10874959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58368" y="1792224"/>
            <a:ext cx="5029200" cy="32004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066544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F2B"/>
                </a:solidFill>
                <a:latin typeface="Apple SD Gothic Neo"/>
              </a:rPr>
              <a:t>.agents/skills/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409444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15F3C"/>
                </a:solidFill>
                <a:latin typeface="Apple SD Gothic Neo"/>
              </a:rPr>
              <a:t>  graviton-compat-scan/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752344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Apple SD Gothic Neo"/>
              </a:rPr>
              <a:t>    SKILL.md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095244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Apple SD Gothic Neo"/>
              </a:rPr>
              <a:t>    scripts/scan_x86.sh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438144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Apple SD Gothic Neo"/>
              </a:rPr>
              <a:t>    references/failures.md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781044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15F3C"/>
                </a:solidFill>
                <a:latin typeface="Apple SD Gothic Neo"/>
              </a:rPr>
              <a:t>  multiarch-build/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123944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15F3C"/>
                </a:solidFill>
                <a:latin typeface="Apple SD Gothic Neo"/>
              </a:rPr>
              <a:t>  graviton-iac/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4466844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15F3C"/>
                </a:solidFill>
                <a:latin typeface="Apple SD Gothic Neo"/>
              </a:rPr>
              <a:t>  graviton-validate/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71616" y="1792224"/>
            <a:ext cx="54617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F2B"/>
                </a:solidFill>
                <a:latin typeface="Apple SD Gothic Neo"/>
              </a:rPr>
              <a:t>결정론적 스캔이 잡는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1616" y="2048256"/>
            <a:ext cx="54617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pple SD Gothic Neo"/>
              </a:rPr>
              <a:t>모델 판단에 맡기면 재현성이 없다 — grep으로 고정한다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2487168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731A"/>
                </a:solidFill>
                <a:latin typeface="Apple SD Gothic Neo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487168"/>
            <a:ext cx="518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F2B"/>
                </a:solidFill>
                <a:latin typeface="Apple SD Gothic Neo"/>
              </a:rPr>
              <a:t>SSE/AVX 인트린식, __m128, 인라인 어셈블리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71616" y="2852928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731A"/>
                </a:solidFill>
                <a:latin typeface="Apple SD Gothic Neo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852928"/>
            <a:ext cx="518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F2B"/>
                </a:solidFill>
                <a:latin typeface="Apple SD Gothic Neo"/>
              </a:rPr>
              <a:t>platform.machine() 아키텍처 분기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3218688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731A"/>
                </a:solidFill>
                <a:latin typeface="Apple SD Gothic Neo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218688"/>
            <a:ext cx="518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F2B"/>
                </a:solidFill>
                <a:latin typeface="Apple SD Gothic Neo"/>
              </a:rPr>
              <a:t>Dockerfile 하드코딩 amd64 / 단일 아치 베이스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71616" y="3584448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731A"/>
                </a:solidFill>
                <a:latin typeface="Apple SD Gothic Neo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584448"/>
            <a:ext cx="518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F2B"/>
                </a:solidFill>
                <a:latin typeface="Apple SD Gothic Neo"/>
              </a:rPr>
              <a:t>x86 URL에서 받는 prebuilt 바이너리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71616" y="3950208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731A"/>
                </a:solidFill>
                <a:latin typeface="Apple SD Gothic Neo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3950208"/>
            <a:ext cx="518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F2B"/>
                </a:solidFill>
                <a:latin typeface="Apple SD Gothic Neo"/>
              </a:rPr>
              <a:t>arm64 wheel 없는 Python 의존성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71616" y="4315968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731A"/>
                </a:solidFill>
                <a:latin typeface="Apple SD Gothic Neo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315968"/>
            <a:ext cx="518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F2B"/>
                </a:solidFill>
                <a:latin typeface="Apple SD Gothic Neo"/>
              </a:rPr>
              <a:t>Node 네이티브 애드온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71616" y="4773168"/>
            <a:ext cx="53702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Apple SD Gothic Neo"/>
              </a:rPr>
              <a:t>exit code 0/non-zero로 끝나게 쓰면 atx의 continual learning이 신호로 쓴다.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956048"/>
            <a:ext cx="10874959" cy="731520"/>
          </a:xfrm>
          <a:prstGeom prst="rect">
            <a:avLst/>
          </a:prstGeom>
          <a:noFill/>
          <a:ln w="15875">
            <a:solidFill>
              <a:srgbClr val="1A1F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102352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1">
                <a:solidFill>
                  <a:srgbClr val="1A1F2B"/>
                </a:solidFill>
                <a:latin typeface="Apple SD Gothic Neo"/>
              </a:rPr>
              <a:t>도구가 Graviton을 아는 게 아니라, 우리가 파일럿에서 알아낸 걸 세 도구가 공유하는 지식 레이어로 만드는 것.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82512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D8DCE3"/>
                </a:solidFill>
                <a:latin typeface="Apple SD Gothic Neo"/>
              </a:rPr>
              <a:t>x86 → Graviton  ·  Agentic AI Multi-Tool Approach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84687" y="638251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Apple SD Gothic Ne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8731A"/>
                </a:solidFill>
                <a:latin typeface="Apple SD Gothic Neo"/>
              </a:rPr>
              <a:t>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F2B"/>
                </a:solidFill>
                <a:latin typeface="Apple SD Gothic Neo"/>
              </a:rPr>
              <a:t>제안서 신뢰도를 지키는 두 가지 단서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Apple SD Gothic Neo"/>
              </a:rPr>
              <a:t>과장은 나중에 실측이 안 나올 때 신뢰를 잃는다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517904"/>
            <a:ext cx="10874959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58368" y="1792224"/>
            <a:ext cx="50292" cy="157276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1792224"/>
            <a:ext cx="104177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1F2B"/>
                </a:solidFill>
                <a:latin typeface="Apple SD Gothic Neo"/>
              </a:rPr>
              <a:t>"up to 40%"는 워크로드 의존적이다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194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Apple SD Gothic Neo"/>
              </a:rPr>
              <a:t>일반 웹 · JVM 서비스는 잘 나온다. SIMD 집약적이거나 메모리 대역폭에 묶인 워크로드는 편차가 크다.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889504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E7A54"/>
                </a:solidFill>
                <a:latin typeface="Apple SD Gothic Neo"/>
              </a:rPr>
              <a:t>→ 인용 수치가 아니라 파일럿에서 측정한 우리 숫자를 쓴다. 그게 훨씬 방어된다.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749040"/>
            <a:ext cx="50292" cy="157276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749040"/>
            <a:ext cx="104177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1F2B"/>
                </a:solidFill>
                <a:latin typeface="Apple SD Gothic Neo"/>
              </a:rPr>
              <a:t>"months to days"는 코드 구간에만 맞다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4151376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Apple SD Gothic Neo"/>
              </a:rPr>
              <a:t>압축되는 것 — 분석 · 리팩터 · 빌드 수정. 압축되지 않는 것 — 성능 검증, soak 테스트, 승인 절차, 카나리 관찰.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4846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E7A54"/>
                </a:solidFill>
                <a:latin typeface="Apple SD Gothic Neo"/>
              </a:rPr>
              <a:t>→ 이 구분을 명시하면 오히려 설득력이 올라간다. "코드는 며칠, 검증·롤아웃은 별도".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5175504"/>
            <a:ext cx="10874959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539496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1">
                <a:solidFill>
                  <a:srgbClr val="B45409"/>
                </a:solidFill>
                <a:latin typeface="Apple SD Gothic Neo"/>
              </a:rPr>
              <a:t>또 하나 — </a:t>
            </a:r>
            <a:r>
              <a:rPr sz="1250" b="0">
                <a:solidFill>
                  <a:srgbClr val="6B7280"/>
                </a:solidFill>
                <a:latin typeface="Apple SD Gothic Neo"/>
              </a:rPr>
              <a:t>atx의 -x -t (비대화형 + 전체 도구 신뢰)는 문서가 직접 "대부분의 보안 가드레일을 우회한다"고 경고한다. 브랜치 + 사람 PR 리뷰는 유지한다.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82512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D8DCE3"/>
                </a:solidFill>
                <a:latin typeface="Apple SD Gothic Neo"/>
              </a:rPr>
              <a:t>x86 → Graviton  ·  Agentic AI Multi-Tool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84687" y="638251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Apple SD Gothic Ne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7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1887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8731A"/>
                </a:solidFill>
                <a:latin typeface="Apple SD Gothic Neo"/>
              </a:rP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607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1A1F2B"/>
                </a:solidFill>
                <a:latin typeface="Apple SD Gothic Neo"/>
              </a:rPr>
              <a:t>Graviton을 Day 1 제안에 넣는 근거는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1A1F2B"/>
                </a:solidFill>
                <a:latin typeface="Apple SD Gothic Neo"/>
              </a:rPr>
              <a:t>도구가 아니라 파일럿에서 나온다.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3127248"/>
            <a:ext cx="10874959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3401568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731A"/>
                </a:solidFill>
                <a:latin typeface="Apple SD Gothic Neo"/>
              </a:rPr>
              <a:t>이번 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7168" y="3401568"/>
            <a:ext cx="8778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F2B"/>
                </a:solidFill>
                <a:latin typeface="Apple SD Gothic Neo"/>
              </a:rPr>
              <a:t>리포 1~2개 arm64 파일럿 — 실패 유형과 실측 성능 확보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913632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731A"/>
                </a:solidFill>
                <a:latin typeface="Apple SD Gothic Neo"/>
              </a:rPr>
              <a:t>다음 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3913632"/>
            <a:ext cx="8778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F2B"/>
                </a:solidFill>
                <a:latin typeface="Apple SD Gothic Neo"/>
              </a:rPr>
              <a:t>파일럿 결과를 .agents/skills/ 로 굳힌다 (세 도구 공유)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425696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731A"/>
                </a:solidFill>
                <a:latin typeface="Apple SD Gothic Neo"/>
              </a:rPr>
              <a:t>스케일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4425696"/>
            <a:ext cx="8778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F2B"/>
                </a:solidFill>
                <a:latin typeface="Apple SD Gothic Neo"/>
              </a:rPr>
              <a:t>atx 변환 정의로 publish → 나머지 리포 벌크 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93776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731A"/>
                </a:solidFill>
                <a:latin typeface="Apple SD Gothic Neo"/>
              </a:rPr>
              <a:t>제안서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4937760"/>
            <a:ext cx="8778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F2B"/>
                </a:solidFill>
                <a:latin typeface="Apple SD Gothic Neo"/>
              </a:rPr>
              <a:t>인용 수치 대신 우리 숫자. 코드 구간과 검증 구간을 분리해 산정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669280"/>
            <a:ext cx="10874959" cy="54864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7790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Apple SD Gothic Neo"/>
              </a:rPr>
              <a:t>전제 — arm64 컨테이너 검증에는 Docker 데몬이 필요하다. Go/Rust 리포는 툴체인 설치가 선행된다.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82512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D8DCE3"/>
                </a:solidFill>
                <a:latin typeface="Apple SD Gothic Neo"/>
              </a:rPr>
              <a:t>x86 → Graviton  ·  Agentic AI Multi-Tool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84687" y="638251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Apple SD Gothic Neo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