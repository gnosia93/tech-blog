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00:00–00:45  (인트로)</a:t>
            </a:r>
          </a:p>
          <a:p/>
          <a:p>
            <a:r>
              <a:t>[오프닝 스크립트 – 그대로 읽지 말고 톤만 참고]</a:t>
            </a:r>
          </a:p>
          <a:p>
            <a:r>
              <a:t>"안녕하세요. 오늘 30분 동안 딱 한 가지만 증명해 보겠습니다.</a:t>
            </a:r>
          </a:p>
          <a:p>
            <a:r>
              <a:t>Graviton 마이그레이션은 더 이상 '분기 단위 프로젝트'가 아니라 '스프린트 단위 작업'이라는 것."</a:t>
            </a:r>
          </a:p>
          <a:p/>
          <a:p>
            <a:r>
              <a:t>[반드시 먼저 정정해 둘 프레이밍]</a:t>
            </a:r>
          </a:p>
          <a:p>
            <a:r>
              <a:t>- 이 세션은 "AI가 알아서 다 해준다"는 이야기가 아닙니다. 오히려 반대입니다.</a:t>
            </a:r>
          </a:p>
          <a:p>
            <a:r>
              <a:t>  마이그레이션 작업을 (1) 반복 가능한 대량 작업, (2) 지식이 필요한 판단 작업,</a:t>
            </a:r>
          </a:p>
          <a:p>
            <a:r>
              <a:t>  (3) 사람이 설계해야 하는 난이도 높은 작업 — 세 층으로 쪼개고,</a:t>
            </a:r>
          </a:p>
          <a:p>
            <a:r>
              <a:t>  각 층에 맞는 도구를 붙였을 때 비로소 '며칠'이 된다는 이야기입니다.</a:t>
            </a:r>
          </a:p>
          <a:p>
            <a:r>
              <a:t>- 그 세 도구가 각각 AWS Transform custom / Claude Skills / Kiro 입니다.</a:t>
            </a:r>
          </a:p>
          <a:p/>
          <a:p>
            <a:r>
              <a:t>[준비 체크리스트]</a:t>
            </a:r>
          </a:p>
          <a:p>
            <a:r>
              <a:t>- 발표자 이름·소속·날짜를 실제 값으로 교체.</a:t>
            </a:r>
          </a:p>
          <a:p>
            <a:r>
              <a:t>- 하단 chip 중 "Live 데모 없음"은 실제 데모를 넣는다면 문구 교체.</a:t>
            </a:r>
          </a:p>
          <a:p>
            <a:r>
              <a:t>- 마지막 슬라이드 QR 코드 이미지 삽입 필요.</a:t>
            </a:r>
          </a:p>
          <a:p/>
          <a:p>
            <a:r>
              <a:t>[숫자 관련 주의]</a:t>
            </a:r>
          </a:p>
          <a:p>
            <a:r>
              <a:t>이 덱에 나오는 성능·비용 수치는 AWS 공식 문서 및 사내 PoC 기준 예시입니다.</a:t>
            </a:r>
          </a:p>
          <a:p>
            <a:r>
              <a:t>발표 전 최신 수치로 반드시 재확인하고, 사내 수치는 공개 가능 여부를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00:45–02:00</a:t>
            </a:r>
          </a:p>
          <a:p/>
          <a:p>
            <a:r>
              <a:t>[말할 것]</a:t>
            </a:r>
          </a:p>
          <a:p>
            <a:r>
              <a:t>- 청중은 대부분 "Graviton 좋다는 건 아는데 우리 워크로드는 못 옮긴다"는 상태입니다.</a:t>
            </a:r>
          </a:p>
          <a:p>
            <a:r>
              <a:t>  그 저항의 근거를 이 3가지로 해체하겠다고 예고합니다.</a:t>
            </a:r>
          </a:p>
          <a:p>
            <a:r>
              <a:t>- 01에서 강조: 병목은 "arm64에서 안 돌아간다"가 아니라 "확인할 게 너무 많다"입니다.</a:t>
            </a:r>
          </a:p>
          <a:p>
            <a:r>
              <a:t>  실제로 대부분의 Java/Python/Go 워크로드는 재컴파일만으로 동작합니다.</a:t>
            </a:r>
          </a:p>
          <a:p>
            <a:r>
              <a:t>  문제는 그걸 200개 레포에 대해 증명하는 비용입니다.</a:t>
            </a:r>
          </a:p>
          <a:p>
            <a:r>
              <a:t>- 02는 이 세션의 골격입니다. breadth / knowledge / depth 라는 세 단어를</a:t>
            </a:r>
          </a:p>
          <a:p>
            <a:r>
              <a:t>  여기서 심어두고, 이후 모든 파트에서 같은 단어를 반복해 회수합니다.</a:t>
            </a:r>
          </a:p>
          <a:p>
            <a:r>
              <a:t>- 03은 청중이 세션을 끝까지 듣는 이유입니다. "마지막에 실행 계획 드린다"고 명확히 약속.</a:t>
            </a:r>
          </a:p>
          <a:p/>
          <a:p>
            <a:r>
              <a:t>[하단 핵심 명제]</a:t>
            </a:r>
          </a:p>
          <a:p>
            <a:r>
              <a:t>여기서 한 번 멈추고 청중을 보세요. 이 문장이 이 발표의 논지 전체입니다.</a:t>
            </a:r>
          </a:p>
          <a:p>
            <a:r>
              <a:t>"모델이 좋아져서 되는 게 아니라, 문제를 쪼개서 되는 겁니다."</a:t>
            </a:r>
          </a:p>
          <a:p/>
          <a:p>
            <a:r>
              <a:t>[시간 관리]</a:t>
            </a:r>
          </a:p>
          <a:p>
            <a:r>
              <a:t>이 슬라이드에서 2분을 넘기면 뒤가 밀립니다. 카드 제목만 읽고 넘어가도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02:00–02:30  (빠르게)</a:t>
            </a:r>
          </a:p>
          <a:p/>
          <a:p>
            <a:r>
              <a:t>[말할 것]</a:t>
            </a:r>
          </a:p>
          <a:p>
            <a:r>
              <a:t>- 파트별 시간을 실제로 읽어주면 청중이 "언제 내가 궁금한 게 나오는지" 알고 안심합니다.</a:t>
            </a:r>
          </a:p>
          <a:p>
            <a:r>
              <a:t>- "질문은 파트 사이사이 짧게 받고, 긴 논의는 마지막 2분에" 라고 규칙을 정해두세요.</a:t>
            </a:r>
          </a:p>
          <a:p>
            <a:r>
              <a:t>  아니면 파트 2에서 시간이 다 갑니다.</a:t>
            </a:r>
          </a:p>
          <a:p/>
          <a:p>
            <a:r>
              <a:t>[발표자 리마인더]</a:t>
            </a:r>
          </a:p>
          <a:p>
            <a:r>
              <a:t>- 02/03/04 (Transform / Skills / Kiro)가 본체이고 각각 6분입니다.</a:t>
            </a:r>
          </a:p>
          <a:p>
            <a:r>
              <a:t>  6분 = 슬라이드 3장 정도. 한 장에 2분 이상 쓰면 안 됩니다.</a:t>
            </a:r>
          </a:p>
          <a:p/>
          <a:p>
            <a:r>
              <a:t>[시간 초과 시 버릴 순서 — 미리 정해두세요]</a:t>
            </a:r>
          </a:p>
          <a:p>
            <a:r>
              <a:t>1순위 희생: 슬라이드 17 (references 표) — 청중이 사진 찍으면 충분합니다.</a:t>
            </a:r>
          </a:p>
          <a:p>
            <a:r>
              <a:t>2순위 희생: 슬라이드 20 (steering/hooks) — hooks 한 줄만 말하고 넘어갑니다.</a:t>
            </a:r>
          </a:p>
          <a:p>
            <a:r>
              <a:t>3순위 희생: 슬라이드 26 (안티패턴) — 아깝지만 6개 중 2개만 말하면 됩니다.</a:t>
            </a:r>
          </a:p>
          <a:p>
            <a:r>
              <a:t>절대 버리지 말 것: 07(60/25/15), 13(36개 리스트), 21(Day2 하네스), 24(검증 게이트), 27(2주 계획).</a:t>
            </a:r>
          </a:p>
          <a:p>
            <a:r>
              <a:t>→ 이 5장이 발표의 논지 전체를 담고 있습니다.</a:t>
            </a:r>
          </a:p>
          <a:p/>
          <a:p>
            <a:r>
              <a:t>[중간 시간 체크포인트 — 손목시계로 확인]</a:t>
            </a:r>
          </a:p>
          <a:p>
            <a:r>
              <a:t>· 09:00 에 파트 02 시작하고 있어야 정상</a:t>
            </a:r>
          </a:p>
          <a:p>
            <a:r>
              <a:t>· 19:00 에 파트 04 시작하고 있어야 정상</a:t>
            </a:r>
          </a:p>
          <a:p>
            <a:r>
              <a:t>· 26:40 에 슬라이드 25(Months vs Days) 도달해야 정상</a:t>
            </a:r>
          </a:p>
          <a:p>
            <a:r>
              <a:t>하나라도 2분 이상 밀렸으면 위 희생 순서를 즉시 적용하세요.</a:t>
            </a:r>
          </a:p>
          <a:p/>
          <a:p>
            <a:r>
              <a:t>[Q&amp;A 규칙 설정]</a:t>
            </a:r>
          </a:p>
          <a:p>
            <a:r>
              <a:t>"질문은 파트 사이에 짧게, 긴 논의는 마지막에" 를 여기서 선언하세요.</a:t>
            </a:r>
          </a:p>
          <a:p>
            <a:r>
              <a:t>안 하면 파트 02 에서 시간이 다 갑니다. 특히 비용/성능 질문은 파트 05 에서</a:t>
            </a:r>
          </a:p>
          <a:p>
            <a:r>
              <a:t>다룬다고 미리 안내하면 중간 질문이 크게 줄어듭니다.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02:30–02:40  (섹션 전환, 10초)</a:t>
            </a:r>
          </a:p>
          <a:p/>
          <a:p>
            <a:r>
              <a:t>[말할 것]</a:t>
            </a:r>
          </a:p>
          <a:p>
            <a:r>
              <a:t>- "이 파트는 빨리 지나갑니다. 여기 계신 분들은 Graviton이 싼 건 이미 아실 테니까요."</a:t>
            </a:r>
          </a:p>
          <a:p>
            <a:r>
              <a:t>- 섹션 전환 슬라이드는 숨 고르기 용도입니다. 물 한 모금 마시는 지점으로 쓰세요.</a:t>
            </a:r>
          </a:p>
          <a:p/>
          <a:p>
            <a:r>
              <a:t>[이 섹션의 목적 — 3분에 딱 두 가지만]</a:t>
            </a:r>
          </a:p>
          <a:p>
            <a:r>
              <a:t>1. 전제 확인: Graviton 의 가격/성능 이점은 논쟁 대상이 아니다.</a:t>
            </a:r>
          </a:p>
          <a:p>
            <a:r>
              <a:t>   → 여기서 설득하려 들지 마세요. 이미 동의하는 사람에게 설득하면 지루해집니다.</a:t>
            </a:r>
          </a:p>
          <a:p>
            <a:r>
              <a:t>2. 문제 재정의: 그런데도 왜 안 옮겼는가. 그 답이 이 발표의 나머지 27분입니다.</a:t>
            </a:r>
          </a:p>
          <a:p/>
          <a:p>
            <a:r>
              <a:t>[청중 온도 체크 — 여기서 한 번 하면 좋습니다]</a:t>
            </a:r>
          </a:p>
          <a:p>
            <a:r>
              <a:t>손 들기 질문: "Graviton 워크로드를 이미 프로덕션에서 돌리고 계신 분?"</a:t>
            </a:r>
          </a:p>
          <a:p>
            <a:r>
              <a:t>- 손이 많이 올라오면 → 파트 00 을 1분으로 줄이고 파트 01(리드타임 해부)로 빨리 갑니다.</a:t>
            </a:r>
          </a:p>
          <a:p>
            <a:r>
              <a:t>- 손이 적으면 → 슬라이드 05 의 수치를 조금 더 짚어줍니다.</a:t>
            </a:r>
          </a:p>
          <a:p>
            <a:r>
              <a:t>이 한 번의 체크로 남은 27분의 배분을 조정할 수 있습니다.</a:t>
            </a:r>
          </a:p>
          <a:p/>
          <a:p>
            <a:r>
              <a:t>[전환 문장]</a:t>
            </a:r>
          </a:p>
          <a:p>
            <a:r>
              <a:t>"이점은 다 아는 이야기니까 30초만 쓰고, 정작 중요한 '왜 아직 안 옮겼나'로 가겠습니다."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02:40–04:00</a:t>
            </a:r>
          </a:p>
          <a:p/>
          <a:p>
            <a:r>
              <a:t>[말할 것]</a:t>
            </a:r>
          </a:p>
          <a:p>
            <a:r>
              <a:t>- 이 슬라이드는 설득용이 아니라 '전제 확인'용입니다. 30초 안에 읽고 넘어가세요.</a:t>
            </a:r>
          </a:p>
          <a:p>
            <a:r>
              <a:t>  청중이 이미 아는 내용을 길게 말하면 신뢰를 잃습니다.</a:t>
            </a:r>
          </a:p>
          <a:p>
            <a:r>
              <a:t>- 대신 강조할 것은 하단 박스입니다. 이 발표의 경제학적 근거입니다.</a:t>
            </a:r>
          </a:p>
          <a:p/>
          <a:p>
            <a:r>
              <a:t>[하단 박스 논리 — 꼭 이 순서로 말하기]</a:t>
            </a:r>
          </a:p>
          <a:p>
            <a:r>
              <a:t>1. 월 1억 원 쓰는 워크로드가 20% 절감되면 월 2천만 원입니다.</a:t>
            </a:r>
          </a:p>
          <a:p>
            <a:r>
              <a:t>2. 마이그레이션이 6개월 걸리면, 그 6개월간 1.2억 원은 그냥 사라집니다.</a:t>
            </a:r>
          </a:p>
          <a:p>
            <a:r>
              <a:t>   나중에 옮겨도 회수 못 하는 돈입니다.</a:t>
            </a:r>
          </a:p>
          <a:p>
            <a:r>
              <a:t>3. 따라서 "정확하게 천천히"가 아니라 "안전하게 빠르게"가 정답인 영역입니다.</a:t>
            </a:r>
          </a:p>
          <a:p>
            <a:r>
              <a:t>4. 그리고 '안전하게 빠르게'는 자동화된 검증 없이는 불가능합니다 → 뒤 파트 예고.</a:t>
            </a:r>
          </a:p>
          <a:p/>
          <a:p>
            <a:r>
              <a:t>[숫자 검증 필요]</a:t>
            </a:r>
          </a:p>
          <a:p>
            <a:r>
              <a:t>- "최대 40% 가격 대비 성능": AWS가 Graviton 세대별로 다르게 표기합니다.</a:t>
            </a:r>
          </a:p>
          <a:p>
            <a:r>
              <a:t>  발표 시점 기준으로 aws.amazon.com/ec2/graviton 에서 최신 문구 확인하고,</a:t>
            </a:r>
          </a:p>
          <a:p>
            <a:r>
              <a:t>  가능하면 "우리 워크로드에서 측정한 값"으로 대체하는 게 훨씬 설득력 있습니다.</a:t>
            </a:r>
          </a:p>
          <a:p>
            <a:r>
              <a:t>- 지원 인스턴스 타입 수, 서비스 목록도 계속 늘어나므로 확인 필요.</a:t>
            </a:r>
          </a:p>
          <a:p/>
          <a:p>
            <a:r>
              <a:t>[예상 질문]</a:t>
            </a:r>
          </a:p>
          <a:p>
            <a:r>
              <a:t>Q. "우리는 이미 Savings Plan / RI를 x86으로 사 뒀는데요?"</a:t>
            </a:r>
          </a:p>
          <a:p>
            <a:r>
              <a:t>A. Compute Savings Plans는 인스턴스 패밀리·아키텍처와 무관하게 적용됩니다.</a:t>
            </a:r>
          </a:p>
          <a:p>
            <a:r>
              <a:t>   EC2 Instance Savings Plans나 표준 RI라면 제약이 있으니 재무팀과 만료 시점을</a:t>
            </a:r>
          </a:p>
          <a:p>
            <a:r>
              <a:t>   맞춰 마이그레이션 웨이브를 설계하라고 답하세요. (사전에 실제 계약 형태 확인)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04:00–05:30</a:t>
            </a:r>
          </a:p>
          <a:p/>
          <a:p>
            <a:r>
              <a:t>[말할 것 — 이 슬라이드가 발표의 '문제 정의'입니다. 시간을 쓸 만합니다.]</a:t>
            </a:r>
          </a:p>
          <a:p>
            <a:r>
              <a:t>- 왼쪽 인용문들은 실제로 들은 말처럼 읽으세요. 청중이 자기 조직을 떠올려야 합니다.</a:t>
            </a:r>
          </a:p>
          <a:p>
            <a:r>
              <a:t>  가능하면 여러분 조직에서 실제 나온 문장으로 1~2개 교체하면 반응이 훨씬 좋습니다.</a:t>
            </a:r>
          </a:p>
          <a:p>
            <a:r>
              <a:t>- 오른쪽 4가지로 압축: 모른다 / 많다 / 무섭다 / 흩어져 있다.</a:t>
            </a:r>
          </a:p>
          <a:p>
            <a:r>
              <a:t>  이 4개가 뒤에서 각각 어떻게 해결되는지 미리 매핑해 두세요:</a:t>
            </a:r>
          </a:p>
          <a:p>
            <a:r>
              <a:t>    · 모른다  → AWS Transform 의 assessment (인벤토리·의존성 분석)</a:t>
            </a:r>
          </a:p>
          <a:p>
            <a:r>
              <a:t>    · 많다    → AWS Transform custom 의 대량 job 실행</a:t>
            </a:r>
          </a:p>
          <a:p>
            <a:r>
              <a:t>    · 무섭다  → 검증 게이트 (파트 05) + Kiro 의 spec 기반 테스트</a:t>
            </a:r>
          </a:p>
          <a:p>
            <a:r>
              <a:t>    · 흩어져 있다 → Claude Skills (지식의 코드화)</a:t>
            </a:r>
          </a:p>
          <a:p>
            <a:r>
              <a:t>- 이 매핑을 지금 말로 한 번 예고하면, 뒤 파트가 "따로 노는 3개 도구 소개"가 아니라</a:t>
            </a:r>
          </a:p>
          <a:p>
            <a:r>
              <a:t>  "문제별 처방"으로 들립니다. 이 발표의 성패가 여기 갈립니다.</a:t>
            </a:r>
          </a:p>
          <a:p/>
          <a:p>
            <a:r>
              <a:t>[하단 재구성 문장]</a:t>
            </a:r>
          </a:p>
          <a:p>
            <a:r>
              <a:t>"컴파일러 문제가 아니라 처리량 문제" — 이 문장을 또박또박 말하세요.</a:t>
            </a:r>
          </a:p>
          <a:p>
            <a:r>
              <a:t>에이전트/LLM을 쓰는 정당성이 여기서 나옵니다.</a:t>
            </a:r>
          </a:p>
          <a:p>
            <a:r>
              <a:t>반복 가능하고, 검증 기준이 명확하고, 양이 많은 작업 = 에이전트가 잘하는 작업.</a:t>
            </a:r>
          </a:p>
          <a:p/>
          <a:p>
            <a:r>
              <a:t>[하지 말 것]</a:t>
            </a:r>
          </a:p>
          <a:p>
            <a:r>
              <a:t>"AI가 다 해줍니다"라고 말하지 마세요. 이 청중은 그 말에 방어적입니다.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05:30–07:30  (이 슬라이드가 발표의 뼈대. 충분히 쓰세요)</a:t>
            </a:r>
          </a:p>
          <a:p/>
          <a:p>
            <a:r>
              <a:t>[말할 것]</a:t>
            </a:r>
          </a:p>
          <a:p>
            <a:r>
              <a:t>- 이 60/25/15 분포가 세 도구의 역할 분담 근거입니다. 숫자를 외우게 만드세요.</a:t>
            </a:r>
          </a:p>
          <a:p>
            <a:r>
              <a:t>- 순서대로 짚기:</a:t>
            </a:r>
          </a:p>
          <a:p>
            <a:r>
              <a:t>  · 60% 기계적 반복 — 판단이 거의 필요 없고 패턴이 반복됩니다.</a:t>
            </a:r>
          </a:p>
          <a:p>
            <a:r>
              <a:t>    사람이 하면 지루하고 실수하고, 리뷰도 지루해서 대충 봅니다. 최악의 조합.</a:t>
            </a:r>
          </a:p>
          <a:p>
            <a:r>
              <a:t>    → 규칙과 플레이북으로 표현 가능하므로 AWS Transform custom 으로 대량 처리.</a:t>
            </a:r>
          </a:p>
          <a:p>
            <a:r>
              <a:t>  · 25% 지식 필요 — "이 라이브러리가 arm64 wheel을 제공하나?"</a:t>
            </a:r>
          </a:p>
          <a:p>
            <a:r>
              <a:t>    이건 검색과 판단이 필요하지만, 한 번 알아낸 지식은 재사용 가능합니다.</a:t>
            </a:r>
          </a:p>
          <a:p>
            <a:r>
              <a:t>    → 그래서 Claude Skills. 지식을 문서+스크립트로 고정해 매번 다시 알아내지 않게 합니다.</a:t>
            </a:r>
          </a:p>
          <a:p>
            <a:r>
              <a:t>  · 15% 어려운 것 — 사람의 설계 판단이 필요합니다. 하지만 혼자 하면 느립니다.</a:t>
            </a:r>
          </a:p>
          <a:p>
            <a:r>
              <a:t>    → Kiro 로 spec을 먼저 쓰고, 사람이 검토하고, 에이전트가 구현합니다.</a:t>
            </a:r>
          </a:p>
          <a:p/>
          <a:p>
            <a:r>
              <a:t>[함정 문장 — 가장 공감 얻는 지점]</a:t>
            </a:r>
          </a:p>
          <a:p>
            <a:r>
              <a:t>"여러분 조직에서 가장 비싼 엔지니어가 지금 Dockerfile의 FROM 한 줄을 고치고 있습니다."</a:t>
            </a:r>
          </a:p>
          <a:p>
            <a:r>
              <a:t>이 말에 웃음이 나오면 청중을 잡은 겁니다.</a:t>
            </a:r>
          </a:p>
          <a:p/>
          <a:p>
            <a:r>
              <a:t>[정직하게 말할 것]</a:t>
            </a:r>
          </a:p>
          <a:p>
            <a:r>
              <a:t>- 이 분포는 워크로드 성격에 따라 크게 다릅니다. 순수 Java/Go 서비스면 어려운 15%가</a:t>
            </a:r>
          </a:p>
          <a:p>
            <a:r>
              <a:t>  거의 0에 가깝고, 미디어 처리·ML 커널·게임 서버라면 40% 이상이 될 수 있습니다.</a:t>
            </a:r>
          </a:p>
          <a:p>
            <a:r>
              <a:t>- 그래서 파일럿에서 먼저 '우리 조직의 분포'를 측정하라고 뒤에서 권고합니다.</a:t>
            </a:r>
          </a:p>
          <a:p>
            <a:r>
              <a:t>  숫자를 그대로 믿으라고 하지 말고, 측정 방법을 팔아야 합니다.</a:t>
            </a:r>
          </a:p>
          <a:p/>
          <a:p>
            <a:r>
              <a:t>[숫자 출처]</a:t>
            </a:r>
          </a:p>
          <a:p>
            <a:r>
              <a:t>사내 PoC 기준 예시라고 슬라이드에 명시돼 있습니다. 실제 발표 시 여러분 데이터로</a:t>
            </a:r>
          </a:p>
          <a:p>
            <a:r>
              <a:t>교체하고, 아니면 "이 분포는 제 경험 기준"이라고 구두로 명확히 밝히세요.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07:30–07:40  (섹션 전환, 10초)</a:t>
            </a:r>
          </a:p>
          <a:p/>
          <a:p>
            <a:r>
              <a:t>[말할 것]</a:t>
            </a:r>
          </a:p>
          <a:p>
            <a:r>
              <a:t>- "지금까지가 진단입니다. 이제 처방입니다." 한 문장으로 전환.</a:t>
            </a:r>
          </a:p>
          <a:p>
            <a:r>
              <a:t>- breadth / knowledge / depth 라는 세 단어를 다시 반복. 반복이 기억을 만듭니다.</a:t>
            </a:r>
          </a:p>
          <a:p/>
          <a:p>
            <a:r>
              <a:t>[이 섹션이 발표 구조상 하는 일]</a:t>
            </a:r>
          </a:p>
          <a:p>
            <a:r>
              <a:t>앞의 60/25/15 분포(슬라이드 07)와 뒤의 세 파트(02·03·04)를 연결하는 다리입니다.</a:t>
            </a:r>
          </a:p>
          <a:p>
            <a:r>
              <a:t>이 다리를 제대로 놓지 않으면 청중에게는 "관련 없는 도구 3개 소개"로 들립니다.</a:t>
            </a:r>
          </a:p>
          <a:p>
            <a:r>
              <a:t>따라서 다음 슬라이드에서 반드시 분포 ↔ 도구를 1:1로 매핑해 주세요.</a:t>
            </a:r>
          </a:p>
          <a:p/>
          <a:p>
            <a:r>
              <a:t>[미리 방어할 오해 3가지]</a:t>
            </a:r>
          </a:p>
          <a:p>
            <a:r>
              <a:t>1. "세 개 다 써야 하나요?" → 아니오. 규모에 따라 다릅니다.</a:t>
            </a:r>
          </a:p>
          <a:p>
            <a:r>
              <a:t>   레포 20개 이하면 Skills + Kiro 만으로 충분합니다. 뒤에서 다시 말합니다.</a:t>
            </a:r>
          </a:p>
          <a:p>
            <a:r>
              <a:t>2. "이거 AWS 도구 3개 파는 세션인가?" → 아니오. 도구는 교체 가능합니다.</a:t>
            </a:r>
          </a:p>
          <a:p>
            <a:r>
              <a:t>   교체 불가능한 건 '층으로 쪼개는 설계'와 '공통 스키마'입니다. 이걸 강조하세요.</a:t>
            </a:r>
          </a:p>
          <a:p>
            <a:r>
              <a:t>3. "우리 스택은 다른데?" → 층 구분은 스택과 무관합니다. 비율만 달라집니다.</a:t>
            </a:r>
          </a:p>
          <a:p/>
          <a:p>
            <a:r>
              <a:t>[톤 조언]</a:t>
            </a:r>
          </a:p>
          <a:p>
            <a:r>
              <a:t>여기서부터 본론이라 에너지를 한 단계 올리세요. 앞 7분은 문제 정의라 다소 무거웠습니다.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07:40–09:00</a:t>
            </a:r>
          </a:p>
          <a:p/>
          <a:p>
            <a:r>
              <a:t>[말할 것]</a:t>
            </a:r>
          </a:p>
          <a:p>
            <a:r>
              <a:t>- 각 열의 "잘하는 것 / 못하는 것"을 반드시 읽어주세요.</a:t>
            </a:r>
          </a:p>
          <a:p>
            <a:r>
              <a:t>  도구를 소개할 때 한계를 먼저 말하면 신뢰가 급격히 올라갑니다.</a:t>
            </a:r>
          </a:p>
          <a:p>
            <a:r>
              <a:t>- 흔한 실패: 세 도구 중 하나로 전부 하려는 시도.</a:t>
            </a:r>
          </a:p>
          <a:p>
            <a:r>
              <a:t>  · Transform 하나로 하려면 → 예외 케이스에서 전부 막힙니다.</a:t>
            </a:r>
          </a:p>
          <a:p>
            <a:r>
              <a:t>  · Claude Code 세션 하나로 하려면 → 200레포에서 사람이 오케스트레이션하다 지칩니다.</a:t>
            </a:r>
          </a:p>
          <a:p>
            <a:r>
              <a:t>  · Kiro 하나로 하려면 → 난제는 잘 풀리는데 일정이 안 나옵니다.</a:t>
            </a:r>
          </a:p>
          <a:p/>
          <a:p>
            <a:r>
              <a:t>[하단 '산출물 포맷' — 실무자가 가장 값지게 여기는 포인트]</a:t>
            </a:r>
          </a:p>
          <a:p>
            <a:r>
              <a:t>- 도구를 붙이는 진짜 접착제는 API 연동이 아니라 '공통 스키마'입니다.</a:t>
            </a:r>
          </a:p>
          <a:p>
            <a:r>
              <a:t>- 우리가 정한 두 가지:</a:t>
            </a:r>
          </a:p>
          <a:p>
            <a:r>
              <a:t>  1) inventory.json — 레포/서비스별 아키텍처 의존성 인벤토리</a:t>
            </a:r>
          </a:p>
          <a:p>
            <a:r>
              <a:t>  2) validation-report.json — 빌드/테스트/성능 회귀 결과 표준 스키마</a:t>
            </a:r>
          </a:p>
          <a:p>
            <a:r>
              <a:t>- 이 두 파일만 표준화해 두면 어떤 도구를 갈아끼워도 파이프라인이 유지됩니다.</a:t>
            </a:r>
          </a:p>
          <a:p>
            <a:r>
              <a:t>  (도구는 2년 뒤 바뀌지만 스키마는 남습니다 — 이 말 하면 좋습니다)</a:t>
            </a:r>
          </a:p>
          <a:p/>
          <a:p>
            <a:r>
              <a:t>[전환]</a:t>
            </a:r>
          </a:p>
          <a:p>
            <a:r>
              <a:t>"그럼 가장 큰 60%부터 보겠습니다." → 파트 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09:00–09:10  (섹션 전환, 10초)</a:t>
            </a:r>
          </a:p>
          <a:p/>
          <a:p>
            <a:r>
              <a:t>[전환 문장]</a:t>
            </a:r>
          </a:p>
          <a:p>
            <a:r>
              <a:t>"가장 큰 덩어리, 60% 기계적 반복부터 없애겠습니다."</a:t>
            </a:r>
          </a:p>
          <a:p/>
          <a:p>
            <a:r>
              <a:t>[사전 확인 필수 — 이 파트에서 가장 중요한 준비]</a:t>
            </a:r>
          </a:p>
          <a:p>
            <a:r>
              <a:t>AWS Transform 은 기능이 빠르게 추가되는 서비스입니다.</a:t>
            </a:r>
          </a:p>
          <a:p>
            <a:r>
              <a:t>발표 직전에 aws.amazon.com/transform 및 콘솔에서</a:t>
            </a:r>
          </a:p>
          <a:p>
            <a:r>
              <a:t>- 지원 transformation 종류</a:t>
            </a:r>
          </a:p>
          <a:p>
            <a:r>
              <a:t>- custom transformation 의 정확한 명칭/입력 형식/한도/요금</a:t>
            </a:r>
          </a:p>
          <a:p>
            <a:r>
              <a:t>을 재확인하세요. 이 덱은 '개념과 설계 패턴' 중심으로 써 두었으니</a:t>
            </a:r>
          </a:p>
          <a:p>
            <a:r>
              <a:t>세부 UI/필드명이 달라도 논지는 유지됩니다.</a:t>
            </a:r>
          </a:p>
          <a:p>
            <a:r>
              <a:t>콘솔 스크린샷을 1장 캡처해 두면 신뢰도가 크게 올라갑니다.</a:t>
            </a:r>
          </a:p>
          <a:p/>
          <a:p>
            <a:r>
              <a:t>[이 섹션의 핵심 주장 — 한 문장]</a:t>
            </a:r>
          </a:p>
          <a:p>
            <a:r>
              <a:t>"Graviton 전용 버튼을 기다릴 필요 없습니다. 우리 런북을 태우면 됩니다."</a:t>
            </a:r>
          </a:p>
          <a:p/>
          <a:p>
            <a:r>
              <a:t>[청중이 여기서 갖는 진짜 의문 — 미리 답할 것]</a:t>
            </a:r>
          </a:p>
          <a:p>
            <a:r>
              <a:t>1. "우리 레포에 접근 권한을 주는 건가요?"</a:t>
            </a:r>
          </a:p>
          <a:p>
            <a:r>
              <a:t>   → 권한 모델과 데이터 처리 범위는 조직 보안팀 승인 사항입니다.</a:t>
            </a:r>
          </a:p>
          <a:p>
            <a:r>
              <a:t>     발표 전 실제 권한 구성(레포 접근 방식, 결과물 저장 위치)을 확인해 두세요.</a:t>
            </a:r>
          </a:p>
          <a:p>
            <a:r>
              <a:t>     이 질문은 거의 확실히 나옵니다.</a:t>
            </a:r>
          </a:p>
          <a:p>
            <a:r>
              <a:t>2. "결과물이 PR 로 오나요, 아니면 직접 커밋되나요?"</a:t>
            </a:r>
          </a:p>
          <a:p>
            <a:r>
              <a:t>   → PR 기반이어야 합니다. 직접 커밋은 절대 쓰지 말라고 조언하세요.</a:t>
            </a:r>
          </a:p>
          <a:p>
            <a:r>
              <a:t>3. "실패하면 어떻게 아나요?"</a:t>
            </a:r>
          </a:p>
          <a:p>
            <a:r>
              <a:t>   → 실패·보류 목록이 산출물에 포함됩니다. 이게 뒤 파트의 입력입니다.</a:t>
            </a:r>
          </a:p>
          <a:p/>
          <a:p>
            <a:r>
              <a:t>[강조할 프레이밍]</a:t>
            </a:r>
          </a:p>
          <a:p>
            <a:r>
              <a:t>이 파트를 '서비스 소개'로 하지 마세요. '플레이북을 코드화하는 방법'으로 하세요.</a:t>
            </a:r>
          </a:p>
          <a:p>
            <a:r>
              <a:t>청중이 가져갈 건 서비스 사용법이 아니라 지시문 설계 원칙 4가지입니다.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09:10–10:40</a:t>
            </a:r>
          </a:p>
          <a:p/>
          <a:p>
            <a:r>
              <a:t>[말할 것]</a:t>
            </a:r>
          </a:p>
          <a:p>
            <a:r>
              <a:t>- 왼쪽: AWS Transform 은 원래 "큰 덩어리 마이그레이션"용 에이전틱 서비스입니다.</a:t>
            </a:r>
          </a:p>
          <a:p>
            <a:r>
              <a:t>  VMware, 메인프레임, .NET, Windows→Linux 같은 것들.</a:t>
            </a:r>
          </a:p>
          <a:p>
            <a:r>
              <a:t>- 여기서 중요한 통찰: 이 변환들의 내부 절차는 다 비슷합니다.</a:t>
            </a:r>
          </a:p>
          <a:p>
            <a:r>
              <a:t>  분석 → 계획 → 변경 → 검증 → 리뷰. Graviton도 정확히 이 절차입니다.</a:t>
            </a:r>
          </a:p>
          <a:p>
            <a:r>
              <a:t>- 오른쪽: 그래서 custom transformation 이 핵심입니다.</a:t>
            </a:r>
          </a:p>
          <a:p>
            <a:r>
              <a:t>  "Graviton 전용 버튼"이 없어도, 우리가 절차를 서술하면 같은 엔진이 실행합니다.</a:t>
            </a:r>
          </a:p>
          <a:p/>
          <a:p>
            <a:r>
              <a:t>[강조할 프레이밍 — 청중이 자주 오해하는 지점]</a:t>
            </a:r>
          </a:p>
          <a:p>
            <a:r>
              <a:t>custom transformation 은 "프롬프트 한 줄 넣기"가 아닙니다.</a:t>
            </a:r>
          </a:p>
          <a:p>
            <a:r>
              <a:t>사실상 '조직의 마이그레이션 런북을 기계가 읽을 수 있게 쓰는 일'입니다.</a:t>
            </a:r>
          </a:p>
          <a:p>
            <a:r>
              <a:t>따라서 필요한 것은 프롬프트 엔지니어링 스킬이 아니라,</a:t>
            </a:r>
          </a:p>
          <a:p>
            <a:r>
              <a:t>평소 사람에게 인수인계할 때 쓰던 문서를 정확하게 쓰는 능력입니다.</a:t>
            </a:r>
          </a:p>
          <a:p>
            <a:r>
              <a:t>이 말은 청중의 심리적 장벽을 크게 낮춰줍니다.</a:t>
            </a:r>
          </a:p>
          <a:p/>
          <a:p>
            <a:r>
              <a:t>[정직하게 붙일 단서]</a:t>
            </a:r>
          </a:p>
          <a:p>
            <a:r>
              <a:t>- built-in 변환만큼 매끄럽지 않습니다. 첫 시도의 결과물은 반드시 실망스럽습니다.</a:t>
            </a:r>
          </a:p>
          <a:p>
            <a:r>
              <a:t>  2~3회 반복해서 지시문을 다듬는 과정이 필수라고 미리 말해두세요.</a:t>
            </a:r>
          </a:p>
          <a:p>
            <a:r>
              <a:t>  (뒤 슬라이드에서 실제 반복 횟수를 언급합니다)</a:t>
            </a:r>
          </a:p>
          <a:p/>
          <a:p>
            <a:r>
              <a:t>[재확인 항목]</a:t>
            </a:r>
          </a:p>
          <a:p>
            <a:r>
              <a:t>서비스 지원 목록과 custom transformation 의 정확한 입력 스펙은 발표 직전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10:40–12:30</a:t>
            </a:r>
          </a:p>
          <a:p/>
          <a:p>
            <a:r>
              <a:t>[말할 것 — 이 슬라이드가 파트 02의 핵심입니다]</a:t>
            </a:r>
          </a:p>
          <a:p>
            <a:r>
              <a:t>- 왼쪽 지시문을 통째로 읽지 마세요. 섹션 제목 4개만 짚습니다:</a:t>
            </a:r>
          </a:p>
          <a:p>
            <a:r>
              <a:t>  GOAL / IN SCOPE / OUT OF SCOPE / ESCALATE.</a:t>
            </a:r>
          </a:p>
          <a:p>
            <a:r>
              <a:t>- 그리고 오른쪽 원칙 4개와 1:1로 연결해 설명합니다.</a:t>
            </a:r>
          </a:p>
          <a:p/>
          <a:p>
            <a:r>
              <a:t>[원칙별 부연 — 실패 경험을 곁들이면 좋습니다]</a:t>
            </a:r>
          </a:p>
          <a:p>
            <a:r>
              <a:t>① 범위를 좁게</a:t>
            </a:r>
          </a:p>
          <a:p>
            <a:r>
              <a:t>   처음엔 "이 레포를 Graviton 호환으로 만들어줘"라고 썼습니다. 결과는 재앙이었습니다.</a:t>
            </a:r>
          </a:p>
          <a:p>
            <a:r>
              <a:t>   에이전트가 의존성을 업그레이드하고, 코드를 리팩터링하고, 테스트를 고쳐서</a:t>
            </a:r>
          </a:p>
          <a:p>
            <a:r>
              <a:t>   diff 가 4천 줄이 됐습니다. 리뷰가 불가능했습니다.</a:t>
            </a:r>
          </a:p>
          <a:p>
            <a:r>
              <a:t>   → 파일 패턴 단위로 좁히니 diff 가 레포당 20~60줄로 줄었고 리뷰가 5분이 됐습니다.</a:t>
            </a:r>
          </a:p>
          <a:p/>
          <a:p>
            <a:r>
              <a:t>② 금지 목록이 더 중요</a:t>
            </a:r>
          </a:p>
          <a:p>
            <a:r>
              <a:t>   "무엇을 하라"보다 "무엇을 하지 마라"가 리뷰 비용을 결정합니다.</a:t>
            </a:r>
          </a:p>
          <a:p>
            <a:r>
              <a:t>   특히 '의존성 major 업그레이드 금지'는 반드시 넣으세요.</a:t>
            </a:r>
          </a:p>
          <a:p>
            <a:r>
              <a:t>   arm64 문제를 해결하려다 라이브러리를 올려버리면 그건 완전히 다른 리스크입니다.</a:t>
            </a:r>
          </a:p>
          <a:p/>
          <a:p>
            <a:r>
              <a:t>③ 에스컬레이션</a:t>
            </a:r>
          </a:p>
          <a:p>
            <a:r>
              <a:t>   가장 값진 설계 결정입니다. 에이전트가 SIMD 코드를 '창의적으로' 고치게 두면</a:t>
            </a:r>
          </a:p>
          <a:p>
            <a:r>
              <a:t>   조용히 잘못된 코드가 들어옵니다. 발견하면 멈추고 큐에 올리게 하세요.</a:t>
            </a:r>
          </a:p>
          <a:p>
            <a:r>
              <a:t>   그 큐가 파트 04(Kiro)의 입력이 됩니다. 여기서 파이프라인이 이어집니다.</a:t>
            </a:r>
          </a:p>
          <a:p/>
          <a:p>
            <a:r>
              <a:t>④ 검증을 계약에 포함</a:t>
            </a:r>
          </a:p>
          <a:p>
            <a:r>
              <a:t>   "빌드 안 되면 PR 열지 마라"를 지시문에 넣으면 사람이 보는 PR 의 품질이 확 올라갑니다.</a:t>
            </a:r>
          </a:p>
          <a:p>
            <a:r>
              <a:t>   실패한 건 실패 목록으로 받는 게 낫습니다. 깨진 PR 200개보다 낫습니다.</a:t>
            </a:r>
          </a:p>
          <a:p/>
          <a:p>
            <a:r>
              <a:t>[예상 질문]</a:t>
            </a:r>
          </a:p>
          <a:p>
            <a:r>
              <a:t>Q. 이 지시문은 몇 번 고쳤나요?</a:t>
            </a:r>
          </a:p>
          <a:p>
            <a:r>
              <a:t>A. 정직하게 답하세요. 실제 경험 기준으로 3~5회 반복이 일반적입니다.</a:t>
            </a:r>
          </a:p>
          <a:p>
            <a:r>
              <a:t>   첫 버전은 반드시 범위가 너무 넓습니다.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12:30–14:30</a:t>
            </a:r>
          </a:p>
          <a:p/>
          <a:p>
            <a:r>
              <a:t>[말할 것]</a:t>
            </a:r>
          </a:p>
          <a:p>
            <a:r>
              <a:t>- 위쪽 5단계 흐름을 손으로 짚으며 한 번 훑으세요. 30초.</a:t>
            </a:r>
          </a:p>
          <a:p>
            <a:r>
              <a:t>- 아래 숫자 4개가 이 파트의 결론입니다.</a:t>
            </a:r>
          </a:p>
          <a:p/>
          <a:p>
            <a:r>
              <a:t>[가장 중요한 메시지 — 하단 박스]</a:t>
            </a:r>
          </a:p>
          <a:p>
            <a:r>
              <a:t>청중은 "164개 PR 생겼다"에 감탄하지 않습니다. 그건 남의 성과입니다.</a:t>
            </a:r>
          </a:p>
          <a:p>
            <a:r>
              <a:t>하지만 "남은 일이 36개로 확정됐다"에는 반응합니다. 그게 자기 문제이기 때문입니다.</a:t>
            </a:r>
          </a:p>
          <a:p>
            <a:r>
              <a:t>- Graviton 프로젝트가 승인 안 나는 이유는 비용이 아니라 '끝을 모르기 때문'입니다.</a:t>
            </a:r>
          </a:p>
          <a:p>
            <a:r>
              <a:t>- 대량 변환의 진짜 가치는 코드 변경이 아니라 '불확실성 제거'입니다.</a:t>
            </a:r>
          </a:p>
          <a:p>
            <a:r>
              <a:t>- 이 문장을 강조: "언제 끝날지 모르는 프로젝트가 36개 티켓이 되는 순간, 승인이 납니다."</a:t>
            </a:r>
          </a:p>
          <a:p/>
          <a:p>
            <a:r>
              <a:t>[정직하게 말할 것]</a:t>
            </a:r>
          </a:p>
          <a:p>
            <a:r>
              <a:t>- 164개가 PR 됐다는 건 '자동 검증을 통과했다'는 뜻이지 '프로덕션에 안전하다'는 뜻이 아닙니다.</a:t>
            </a:r>
          </a:p>
          <a:p>
            <a:r>
              <a:t>  성능 회귀 검증은 별도 게이트입니다 (파트 05). 이 구분을 흐리지 마세요.</a:t>
            </a:r>
          </a:p>
          <a:p>
            <a:r>
              <a:t>- 웨이브 분할은 필수입니다. 200개를 한 번에 PR 열면 리뷰어가 폭사합니다.</a:t>
            </a:r>
          </a:p>
          <a:p>
            <a:r>
              <a:t>  실제로는 20~30개 단위로 나눠서 진행했다고 말하세요.</a:t>
            </a:r>
          </a:p>
          <a:p/>
          <a:p>
            <a:r>
              <a:t>[숫자 교체]</a:t>
            </a:r>
          </a:p>
          <a:p>
            <a:r>
              <a:t>164/23/13/5분은 예시입니다. 여러분 실측치로 바꾸거나, 없으면</a:t>
            </a:r>
          </a:p>
          <a:p>
            <a:r>
              <a:t>"저희 PoC 규모에서는 대략 이런 비율"이라고 구두로 범위를 밝히세요.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14:30–14:40  (섹션 전환, 10초)</a:t>
            </a:r>
          </a:p>
          <a:p/>
          <a:p>
            <a:r>
              <a:t>[전환 문장]</a:t>
            </a:r>
          </a:p>
          <a:p>
            <a:r>
              <a:t>"자동으로 처리된 60%는 끝났습니다. 이제 남은 23개, '알아야 풀리는 문제'입니다."</a:t>
            </a:r>
          </a:p>
          <a:p/>
          <a:p>
            <a:r>
              <a:t>[이 섹션의 논지 — 한 문장]</a:t>
            </a:r>
          </a:p>
          <a:p>
            <a:r>
              <a:t>"모델을 더 좋은 걸로 바꾸는 게 아니라, 모델이 참조하는 지식을 우리 것으로 바꿉니다."</a:t>
            </a:r>
          </a:p>
          <a:p/>
          <a:p>
            <a:r>
              <a:t>[왜 이 파트가 조직에 가장 오래 남는가 — 강조 포인트]</a:t>
            </a:r>
          </a:p>
          <a:p>
            <a:r>
              <a:t>Transform 으로 처리한 60%는 이번 웨이브가 끝나면 효용이 끝납니다.</a:t>
            </a:r>
          </a:p>
          <a:p>
            <a:r>
              <a:t>하지만 여기서 만든 Skill 은 자산으로 남습니다:</a:t>
            </a:r>
          </a:p>
          <a:p>
            <a:r>
              <a:t>- 6개월 뒤 새 서비스가 생겨도 같은 판정 기준이 적용됩니다.</a:t>
            </a:r>
          </a:p>
          <a:p>
            <a:r>
              <a:t>- 신규 입사자가 첫날부터 시니어와 같은 판단을 합니다.</a:t>
            </a:r>
          </a:p>
          <a:p>
            <a:r>
              <a:t>- 다음 마이그레이션(예: Java 버전 업, 라이브러리 교체)에 구조를 재사용합니다.</a:t>
            </a:r>
          </a:p>
          <a:p>
            <a:r>
              <a:t>→ "이번 프로젝트의 산출물이 아니라 조직의 역량이 됩니다"로 표현하면 임팩트가 큽니다.</a:t>
            </a:r>
          </a:p>
          <a:p/>
          <a:p>
            <a:r>
              <a:t>[청중 중 의사결정자를 향한 메시지]</a:t>
            </a:r>
          </a:p>
          <a:p>
            <a:r>
              <a:t>개발자 청중은 Skill 의 기술적 구조에 반응하고,</a:t>
            </a:r>
          </a:p>
          <a:p>
            <a:r>
              <a:t>관리자 청중은 '시니어 병목 해소'와 '지식 이탈 리스크 감소'에 반응합니다.</a:t>
            </a:r>
          </a:p>
          <a:p>
            <a:r>
              <a:t>청중 구성에 따라 강조점을 바꾸세요. 둘 다 있으면 두 문장 다 말하면 됩니다.</a:t>
            </a:r>
          </a:p>
          <a:p/>
          <a:p>
            <a:r>
              <a:t>[시간 관리]</a:t>
            </a:r>
          </a:p>
          <a:p>
            <a:r>
              <a:t>이 파트는 6분(슬라이드 3장)입니다. SKILL.md 코드를 읽기 시작하면 반드시 초과합니다.</a:t>
            </a:r>
          </a:p>
          <a:p>
            <a:r>
              <a:t>구조(4단계)만 짚고 오른쪽 '설계 규칙'에 시간을 쓰세요. 거기가 노하우입니다.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14:40–16:20</a:t>
            </a:r>
          </a:p>
          <a:p/>
          <a:p>
            <a:r>
              <a:t>[말할 것]</a:t>
            </a:r>
          </a:p>
          <a:p>
            <a:r>
              <a:t>- Skill 을 처음 듣는 청중이 많습니다. 한 문장 정의를 먼저 주세요:</a:t>
            </a:r>
          </a:p>
          <a:p>
            <a:r>
              <a:t>  "Skill 은 Claude 에게 '이 일은 이렇게 한다'를 알려주는 폴더입니다.</a:t>
            </a:r>
          </a:p>
          <a:p>
            <a:r>
              <a:t>   SKILL.md 라는 설명서 하나 + 참고 문서 + 실행 스크립트."</a:t>
            </a:r>
          </a:p>
          <a:p>
            <a:r>
              <a:t>- 왼쪽 파일 트리를 손으로 짚으면서: 새로운 프레임워크가 아니라 그냥 파일입니다.</a:t>
            </a:r>
          </a:p>
          <a:p>
            <a:r>
              <a:t>  이 '단순함'을 강조하면 청중이 "우리도 당장 할 수 있겠다"고 느낍니다.</a:t>
            </a:r>
          </a:p>
          <a:p/>
          <a:p>
            <a:r>
              <a:t>[progressive disclosure 설명 — 쉽게]</a:t>
            </a:r>
          </a:p>
          <a:p>
            <a:r>
              <a:t>"전화번호부 전체를 외우게 하는 게 아니라, 목차만 주고 필요한 페이지를 펼치게 합니다."</a:t>
            </a:r>
          </a:p>
          <a:p>
            <a:r>
              <a:t>- 항상 로드되는 건 name + description 뿐 (수십 토큰).</a:t>
            </a:r>
          </a:p>
          <a:p>
            <a:r>
              <a:t>- Claude 가 "지금 이 작업에 이 Skill 이 필요하다"고 판단하면 본문을 읽습니다.</a:t>
            </a:r>
          </a:p>
          <a:p>
            <a:r>
              <a:t>- 더 깊이 필요하면 references/ 의 특정 파일만 읽습니다.</a:t>
            </a:r>
          </a:p>
          <a:p>
            <a:r>
              <a:t>- 그래서 수천 줄짜리 사내 포팅 가이드를 넣어도 평소 컨텍스트를 잡아먹지 않습니다.</a:t>
            </a:r>
          </a:p>
          <a:p/>
          <a:p>
            <a:r>
              <a:t>[오른쪽 비교 — 청중이 가장 공감하는 지점]</a:t>
            </a:r>
          </a:p>
          <a:p>
            <a:r>
              <a:t>"우리 팀에 마이그레이션 프롬프트 잘 쓰는 사람이 한 명 있고,</a:t>
            </a:r>
          </a:p>
          <a:p>
            <a:r>
              <a:t> 그 사람 슬랙 메시지를 다 복붙해 쓰고 있지 않나요?"</a:t>
            </a:r>
          </a:p>
          <a:p>
            <a:r>
              <a:t>그게 문제입니다. 지식이 사람과 채팅창에 갇혀 있고, 개선이 축적되지 않습니다.</a:t>
            </a:r>
          </a:p>
          <a:p>
            <a:r>
              <a:t>Skill 로 옮기면 지식이 코드처럼 다뤄집니다: PR 리뷰, 버전 태그, 롤백 가능.</a:t>
            </a:r>
          </a:p>
          <a:p/>
          <a:p>
            <a:r>
              <a:t>[재사용 chip 설명]</a:t>
            </a:r>
          </a:p>
          <a:p>
            <a:r>
              <a:t>같은 폴더를 로컬 Claude Code, CI 에서 호출하는 API, Agent SDK 파이프라인이</a:t>
            </a:r>
          </a:p>
          <a:p>
            <a:r>
              <a:t>공유합니다. "개발자가 로컬에서 쓰는 기준"과 "CI 가 검사하는 기준"이</a:t>
            </a:r>
          </a:p>
          <a:p>
            <a:r>
              <a:t>갈라지지 않는다는 게 실무에서 결정적입니다.</a:t>
            </a:r>
          </a:p>
          <a:p/>
          <a:p>
            <a:r>
              <a:t>[주의]</a:t>
            </a:r>
          </a:p>
          <a:p>
            <a:r>
              <a:t>Skills 의 세부 사양(디렉터리 위치, frontmatter 필드)은 업데이트될 수 있습니다.</a:t>
            </a:r>
          </a:p>
          <a:p>
            <a:r>
              <a:t>발표 전 최신 문서 확인. 개념(폴더+진입점+점진적 로드)은 유지됩니다.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16:20–18:00</a:t>
            </a:r>
          </a:p>
          <a:p/>
          <a:p>
            <a:r>
              <a:t>[말할 것]</a:t>
            </a:r>
          </a:p>
          <a:p>
            <a:r>
              <a:t>- 이 SKILL.md 의 4단계 구조만 짚으세요: 스캔 → 판정 → 변경 → 에스컬레이션.</a:t>
            </a:r>
          </a:p>
          <a:p>
            <a:r>
              <a:t>  코드를 다 읽으면 시간이 다 갑니다.</a:t>
            </a:r>
          </a:p>
          <a:p/>
          <a:p>
            <a:r>
              <a:t>[오른쪽 규칙 4개 — 이게 진짜 노하우입니다]</a:t>
            </a:r>
          </a:p>
          <a:p/>
          <a:p>
            <a:r>
              <a:t>① 추측 금지 · 스캔 우선</a:t>
            </a:r>
          </a:p>
          <a:p>
            <a:r>
              <a:t>   가장 흔한 실패 모드: 모델이 "이 라이브러리는 arm64를 지원합니다"라고 자신 있게</a:t>
            </a:r>
          </a:p>
          <a:p>
            <a:r>
              <a:t>   말하지만 사실이 아닌 경우. 학습 시점 이후 상황이 바뀌었을 수도 있고,</a:t>
            </a:r>
          </a:p>
          <a:p>
            <a:r>
              <a:t>   버전에 따라 다를 수도 있습니다.</a:t>
            </a:r>
          </a:p>
          <a:p>
            <a:r>
              <a:t>   해결: 판단하기 전에 반드시 스크립트로 실제 상태를 수집하게 강제합니다.</a:t>
            </a:r>
          </a:p>
          <a:p>
            <a:r>
              <a:t>   "근거 없는 판정은 무효" 를 Skill 에 명시.</a:t>
            </a:r>
          </a:p>
          <a:p/>
          <a:p>
            <a:r>
              <a:t>② UNKNOWN 을 1급 시민으로</a:t>
            </a:r>
          </a:p>
          <a:p>
            <a:r>
              <a:t>   모델이 "모르겠다"고 말할 수 있어야 합니다. 이 경로를 안 만들면</a:t>
            </a:r>
          </a:p>
          <a:p>
            <a:r>
              <a:t>   모델은 그럴듯한 답을 만들어냅니다. UNKNOWN 이 나오면 사람이 15분 조사하면 됩니다.</a:t>
            </a:r>
          </a:p>
          <a:p>
            <a:r>
              <a:t>   틀린 확답은 나중에 프로덕션에서 3일을 잡아먹습니다.</a:t>
            </a:r>
          </a:p>
          <a:p/>
          <a:p>
            <a:r>
              <a:t>③ 승인된 패턴만</a:t>
            </a:r>
          </a:p>
          <a:p>
            <a:r>
              <a:t>   Dockerfile 을 arm64 호환으로 만드는 방법은 여러 가지지만,</a:t>
            </a:r>
          </a:p>
          <a:p>
            <a:r>
              <a:t>   조직에 필요한 건 '한 가지 방법'입니다. 선택지를 좁혀야 리뷰가 5분에 끝납니다.</a:t>
            </a:r>
          </a:p>
          <a:p>
            <a:r>
              <a:t>   references/dockerfile-patterns.md 에 우리가 승인한 패턴만 넣습니다.</a:t>
            </a:r>
          </a:p>
          <a:p/>
          <a:p>
            <a:r>
              <a:t>④ 스크립트를 함께 배포 — 이 발표에서 가장 실용적인 조언</a:t>
            </a:r>
          </a:p>
          <a:p>
            <a:r>
              <a:t>   "판단은 모델에게, 수집은 코드에게."</a:t>
            </a:r>
          </a:p>
          <a:p>
            <a:r>
              <a:t>   파일 목록 뽑기, grep, 의존성 파싱 같은 건 결정적(deterministic)이어야 합니다.</a:t>
            </a:r>
          </a:p>
          <a:p>
            <a:r>
              <a:t>   모델에게 시키면 매번 다르고 놓칩니다. Skill 의 scripts/ 가 그 역할입니다.</a:t>
            </a:r>
          </a:p>
          <a:p/>
          <a:p>
            <a:r>
              <a:t>[전환]</a:t>
            </a:r>
          </a:p>
          <a:p>
            <a:r>
              <a:t>"그런데 이렇게 해도 못 푸는 게 남습니다. 아까 그 13개." → 파트 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18:00–19:00  (표는 빨리)</a:t>
            </a:r>
          </a:p>
          <a:p/>
          <a:p>
            <a:r>
              <a:t>[말할 것]</a:t>
            </a:r>
          </a:p>
          <a:p>
            <a:r>
              <a:t>- 표를 다 읽지 마세요. 청중은 사진을 찍을 겁니다. "찍으세요" 라고 말해주면 좋습니다.</a:t>
            </a:r>
          </a:p>
          <a:p>
            <a:r>
              <a:t>- 대신 강조할 것은 위험도 열입니다.</a:t>
            </a:r>
          </a:p>
          <a:p>
            <a:r>
              <a:t>  · 낮음 (Java, Go/Rust): 사실 거의 공짜입니다. 여기서 빠른 성과를 만드세요.</a:t>
            </a:r>
          </a:p>
          <a:p>
            <a:r>
              <a:t>  · 중간 (Python, Node, 컨테이너): 스캔하면 대부분 해결됩니다.</a:t>
            </a:r>
          </a:p>
          <a:p>
            <a:r>
              <a:t>  · 높음 (에이전트/사이드카, SIMD): 사람이 봐야 합니다.</a:t>
            </a:r>
          </a:p>
          <a:p/>
          <a:p>
            <a:r>
              <a:t>[가장 많이 놓치는 항목 — 꼭 언급]</a:t>
            </a:r>
          </a:p>
          <a:p>
            <a:r>
              <a:t>'에이전트/사이드카'입니다. 애플리케이션은 잘 옮겼는데 APM 에이전트나</a:t>
            </a:r>
          </a:p>
          <a:p>
            <a:r>
              <a:t>보안 에이전트가 arm64 빌드를 안 주는 경우가 실제로 프로젝트를 세웁니다.</a:t>
            </a:r>
          </a:p>
          <a:p>
            <a:r>
              <a:t>그리고 이건 코드 문제가 아니라 계약·벤더 문제라서 엔지니어가 못 풉니다.</a:t>
            </a:r>
          </a:p>
          <a:p>
            <a:r>
              <a:t>→ 그래서 인벤토리 단계에서 '앱 코드'만 보지 말고 '런타임에 같이 뜨는 모든 것'을</a:t>
            </a:r>
          </a:p>
          <a:p>
            <a:r>
              <a:t>   보라고 조언하세요. 실무자들이 고개를 끄덕이는 지점입니다.</a:t>
            </a:r>
          </a:p>
          <a:p/>
          <a:p>
            <a:r>
              <a:t>[하단 박스]</a:t>
            </a:r>
          </a:p>
          <a:p>
            <a:r>
              <a:t>"높음 3줄만 사람이 본다" — 이게 우선순위 설계입니다.</a:t>
            </a:r>
          </a:p>
          <a:p>
            <a:r>
              <a:t>전체를 검토하려 하면 몇 달이 걸리고, 위험도로 분류하면 며칠이 됩니다.</a:t>
            </a:r>
          </a:p>
          <a:p/>
          <a:p>
            <a:r>
              <a:t>[정직 단서]</a:t>
            </a:r>
          </a:p>
          <a:p>
            <a:r>
              <a:t>이 표의 '전형적 결론'은 일반화입니다. 실제 판정은 버전 단위로 달라집니다.</a:t>
            </a:r>
          </a:p>
          <a:p>
            <a:r>
              <a:t>그래서 Skill 에 '표에 없으면 UNKNOWN' 규칙을 넣었다고 다시 연결해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19:00–19:10  (섹션 전환, 10초)</a:t>
            </a:r>
          </a:p>
          <a:p/>
          <a:p>
            <a:r>
              <a:t>[전환]</a:t>
            </a:r>
          </a:p>
          <a:p>
            <a:r>
              <a:t>"지금까지 164 + 23 = 187개가 끝났습니다. 남은 13개가 사실 제일 무섭습니다.</a:t>
            </a:r>
          </a:p>
          <a:p>
            <a:r>
              <a:t> 프로젝트는 여기서 죽습니다."</a:t>
            </a:r>
          </a:p>
          <a:p/>
          <a:p>
            <a:r>
              <a:t>[왜 13개가 187개보다 무서운가 — 이 섹션의 존재 이유]</a:t>
            </a:r>
          </a:p>
          <a:p>
            <a:r>
              <a:t>- 187개는 예측 가능한 작업입니다. 일정을 말할 수 있습니다.</a:t>
            </a:r>
          </a:p>
          <a:p>
            <a:r>
              <a:t>- 13개는 각각이 미니 프로젝트입니다. 하나가 2주로 늘어나면 전체 일정이 무너집니다.</a:t>
            </a:r>
          </a:p>
          <a:p>
            <a:r>
              <a:t>- 그리고 조직은 '90% 완료' 상태를 완료로 인정하지 않습니다.</a:t>
            </a:r>
          </a:p>
          <a:p>
            <a:r>
              <a:t>  x86 인스턴스가 10개 남아 있으면 그 워크로드는 여전히 이중 운영입니다.</a:t>
            </a:r>
          </a:p>
          <a:p>
            <a:r>
              <a:t>  → 절감액도 안 나오고 운영 부담은 늘어납니다. 가장 나쁜 상태입니다.</a:t>
            </a:r>
          </a:p>
          <a:p>
            <a:r>
              <a:t>- 그래서 마지막 15%를 '끝낼 수 있는 방식'으로 만드는 게 이 섹션의 목표입니다.</a:t>
            </a:r>
          </a:p>
          <a:p/>
          <a:p>
            <a:r>
              <a:t>[이 파트에서 절대 하지 말 것]</a:t>
            </a:r>
          </a:p>
          <a:p>
            <a:r>
              <a:t>"Kiro 가 SIMD 코드를 알아서 포팅해줍니다"라고 말하지 마세요. 사실이 아니고,</a:t>
            </a:r>
          </a:p>
          <a:p>
            <a:r>
              <a:t>이 청중은 즉시 알아챕니다. 정확한 메시지는:</a:t>
            </a:r>
          </a:p>
          <a:p>
            <a:r>
              <a:t>"사람이 설계를 판단하고, 에이전트가 구현을 반복하고, 하네스가 즉시 판정합니다."</a:t>
            </a:r>
          </a:p>
          <a:p>
            <a:r>
              <a:t>Kiro 의 가치는 자동화가 아니라 '난제를 추적 가능한 단위로 분해하는 구조'입니다.</a:t>
            </a:r>
          </a:p>
          <a:p/>
          <a:p>
            <a:r>
              <a:t>[강조할 반전]</a:t>
            </a:r>
          </a:p>
          <a:p>
            <a:r>
              <a:t>어려운 문제일수록 spec 을 먼저 쓰는 게 빠릅니다. 직관과 반대입니다.</a:t>
            </a:r>
          </a:p>
          <a:p>
            <a:r>
              <a:t>쉬운 문제에서는 spec 이 오버헤드지만(그래서 60%는 Transform 에 맡겼습니다),</a:t>
            </a:r>
          </a:p>
          <a:p>
            <a:r>
              <a:t>성공 기준이 애매한 난제에서는 spec 없이 시작하면 무한 반복에 빠집니다.</a:t>
            </a:r>
          </a:p>
          <a:p>
            <a:r>
              <a:t>이 대비를 명확히 말하면 세 도구의 역할 분담이 완전히 이해됩니다.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19:10–21:00</a:t>
            </a:r>
          </a:p>
          <a:p/>
          <a:p>
            <a:r>
              <a:t>[말할 것]</a:t>
            </a:r>
          </a:p>
          <a:p>
            <a:r>
              <a:t>- Kiro 의 핵심은 IDE 가 아니라 '순서'입니다: requirements → design → tasks → code.</a:t>
            </a:r>
          </a:p>
          <a:p>
            <a:r>
              <a:t>  바이브 코딩의 반대편입니다.</a:t>
            </a:r>
          </a:p>
          <a:p>
            <a:r>
              <a:t>- 예시로 쓴 문제(이미지 리사이즈 SIMD 핫패스)를 구체적으로 설명하세요.</a:t>
            </a:r>
          </a:p>
          <a:p>
            <a:r>
              <a:t>  추상적으로 말하면 안 와닿습니다.</a:t>
            </a:r>
          </a:p>
          <a:p/>
          <a:p>
            <a:r>
              <a:t>[왜 난제에 spec 이 필요한가 — 핵심 논리]</a:t>
            </a:r>
          </a:p>
          <a:p>
            <a:r>
              <a:t>쉬운 문제에서는 spec 이 오버헤드입니다. Dockerfile 한 줄 고치는 데 requirements 를</a:t>
            </a:r>
          </a:p>
          <a:p>
            <a:r>
              <a:t>쓸 필요는 없습니다. 그래서 60%는 Transform 에 맡겼습니다.</a:t>
            </a:r>
          </a:p>
          <a:p>
            <a:r>
              <a:t>하지만 SIMD 포팅은 다릅니다:</a:t>
            </a:r>
          </a:p>
          <a:p>
            <a:r>
              <a:t>- "동작한다"의 정의가 애매합니다. 픽셀이 1 비트 달라도 되나요? 안 되나요?</a:t>
            </a:r>
          </a:p>
          <a:p>
            <a:r>
              <a:t>- 성능이 목적인 코드인데, 성능 기준 없이 포팅하면 성공/실패를 판정할 수 없습니다.</a:t>
            </a:r>
          </a:p>
          <a:p>
            <a:r>
              <a:t>- 그래서 requirements 에 "출력 동일성"과 "p99 ≤ 105%"를 먼저 못 박습니다.</a:t>
            </a:r>
          </a:p>
          <a:p>
            <a:r>
              <a:t>  이걸 안 하면 에이전트는 '컴파일되는 코드'를 만들고 끝냅니다.</a:t>
            </a:r>
          </a:p>
          <a:p/>
          <a:p>
            <a:r>
              <a:t>[사람 개입 지점 3개 — 강조]</a:t>
            </a:r>
          </a:p>
          <a:p>
            <a:r>
              <a:t>범위 합의 / 설계 승인 / 구현 위임.</a:t>
            </a:r>
          </a:p>
          <a:p>
            <a:r>
              <a:t>이 발표에서 가장 안심시키는 메시지입니다. 사람이 사라지는 게 아니라,</a:t>
            </a:r>
          </a:p>
          <a:p>
            <a:r>
              <a:t>사람이 개입하는 지점이 '코드 리뷰'에서 '설계 승인'으로 올라갑니다.</a:t>
            </a:r>
          </a:p>
          <a:p>
            <a:r>
              <a:t>같은 시간을 쓰지만 훨씬 레버리지가 큰 지점에 씁니다.</a:t>
            </a:r>
          </a:p>
          <a:p/>
          <a:p>
            <a:r>
              <a:t>[오른쪽 박스 — 조직에 파는 논리]</a:t>
            </a:r>
          </a:p>
          <a:p>
            <a:r>
              <a:t>난제 13개의 spec 이 문서로 남습니다. 이게 실제로는 가장 큰 자산입니다.</a:t>
            </a:r>
          </a:p>
          <a:p>
            <a:r>
              <a:t>Graviton 마이그레이션은 한 번으로 끝나지 않습니다. 새 서비스가 계속 생기고</a:t>
            </a:r>
          </a:p>
          <a:p>
            <a:r>
              <a:t>같은 문제를 다시 만납니다. 그때 이 문서가 있으면 며칠이 몇 시간이 됩니다.</a:t>
            </a:r>
          </a:p>
          <a:p/>
          <a:p>
            <a:r>
              <a:t>[주의]</a:t>
            </a:r>
          </a:p>
          <a:p>
            <a:r>
              <a:t>Kiro 의 기능/명칭은 업데이트가 빠릅니다. spec 파일 구성, steering, hooks 의</a:t>
            </a:r>
          </a:p>
          <a:p>
            <a:r>
              <a:t>정확한 동작은 발표 전 kiro.dev 문서로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21:00–22:20</a:t>
            </a:r>
          </a:p>
          <a:p/>
          <a:p>
            <a:r>
              <a:t>[말할 것]</a:t>
            </a:r>
          </a:p>
          <a:p>
            <a:r>
              <a:t>- steering = "이 프로젝트에서는 원래 이렇게 합니다"를 파일로 고정.</a:t>
            </a:r>
          </a:p>
          <a:p>
            <a:r>
              <a:t>  세션마다 다시 설명하지 않아도 되는 프로젝트 상수입니다.</a:t>
            </a:r>
          </a:p>
          <a:p>
            <a:r>
              <a:t>- hooks = 이벤트 기반 자동 검증. 저장할 때, 커밋할 때 규칙을 강제.</a:t>
            </a:r>
          </a:p>
          <a:p/>
          <a:p>
            <a:r>
              <a:t>[steering 예시 중 강조할 두 줄]</a:t>
            </a:r>
          </a:p>
          <a:p>
            <a:r>
              <a:t>1) "한쪽만 성공하면 실패다"</a:t>
            </a:r>
          </a:p>
          <a:p>
            <a:r>
              <a:t>   가장 흔한 사고: amd64 는 되고 arm64 는 조용히 실패했는데 배포가 나갑니다.</a:t>
            </a:r>
          </a:p>
          <a:p>
            <a:r>
              <a:t>   실패 판정 기준을 명시적으로 써 두는 게 중요합니다.</a:t>
            </a:r>
          </a:p>
          <a:p>
            <a:r>
              <a:t>2) "런타임 uname 분기 금지"</a:t>
            </a:r>
          </a:p>
          <a:p>
            <a:r>
              <a:t>   아키텍처 분기를 런타임에 넣으면 테스트 조합이 폭발합니다.</a:t>
            </a:r>
          </a:p>
          <a:p>
            <a:r>
              <a:t>   빌드 타임에만 허용하는 게 유지보수 가능한 유일한 방법입니다.</a:t>
            </a:r>
          </a:p>
          <a:p>
            <a:r>
              <a:t>   (이건 실제로 겪어본 사람만 아는 규칙이라 신뢰를 줍니다)</a:t>
            </a:r>
          </a:p>
          <a:p/>
          <a:p>
            <a:r>
              <a:t>[hooks 설명 — 가장 실용적인 부분]</a:t>
            </a:r>
          </a:p>
          <a:p>
            <a:r>
              <a:t>"CI 에서 20분 뒤에 아는 것과 저장하고 20초 뒤에 아는 것의 차이"</a:t>
            </a:r>
          </a:p>
          <a:p>
            <a:r>
              <a:t>개발자 경험 관점에서 이게 리드타임에 가장 크게 기여합니다.</a:t>
            </a:r>
          </a:p>
          <a:p>
            <a:r>
              <a:t>피드백 루프 길이가 곧 마이그레이션 속도입니다.</a:t>
            </a:r>
          </a:p>
          <a:p/>
          <a:p>
            <a:r>
              <a:t>[연결]</a:t>
            </a:r>
          </a:p>
          <a:p>
            <a:r>
              <a:t>steering 의 규칙과 Claude Skills 의 판정 기준이 충돌하면 안 됩니다.</a:t>
            </a:r>
          </a:p>
          <a:p>
            <a:r>
              <a:t>실무 팁: Skill 의 references/ 와 steering 파일이 같은 원본을 참조하도록</a:t>
            </a:r>
          </a:p>
          <a:p>
            <a:r>
              <a:t>심볼릭 링크나 생성 스크립트를 두세요. 두 곳에서 규칙이 갈라지는 게</a:t>
            </a:r>
          </a:p>
          <a:p>
            <a:r>
              <a:t>이 아키텍처의 가장 현실적인 실패 모드입니다. (이 조언은 반드시 언급하세요)</a:t>
            </a:r>
          </a:p>
          <a:p/>
          <a:p>
            <a:r>
              <a:t>[시간 부족 시]</a:t>
            </a:r>
          </a:p>
          <a:p>
            <a:r>
              <a:t>이 슬라이드는 hooks 만 말하고 넘어가도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22:20–23:40</a:t>
            </a:r>
          </a:p>
          <a:p/>
          <a:p>
            <a:r>
              <a:t>[말할 것]</a:t>
            </a:r>
          </a:p>
          <a:p>
            <a:r>
              <a:t>- 이 슬라이드는 스토리입니다. 날짜를 따라가며 이야기하세요.</a:t>
            </a:r>
          </a:p>
          <a:p>
            <a:r>
              <a:t>- 가장 중요한 대목은 Day 2 AM 입니다. 여기서 한 번 멈추세요.</a:t>
            </a:r>
          </a:p>
          <a:p/>
          <a:p>
            <a:r>
              <a:t>[Day 2 AM 이 승부처인 이유 — 이 발표의 기술적 정수]</a:t>
            </a:r>
          </a:p>
          <a:p>
            <a:r>
              <a:t>"구현하기 전에 판정 하네스를 먼저 만들었습니다."</a:t>
            </a:r>
          </a:p>
          <a:p>
            <a:r>
              <a:t>- 골든 이미지 1,000장 비교 + 벤치마크 하네스.</a:t>
            </a:r>
          </a:p>
          <a:p>
            <a:r>
              <a:t>- 이걸 먼저 만들면 에이전트의 시도가 아무리 많아도 비용이 거의 0 입니다.</a:t>
            </a:r>
          </a:p>
          <a:p>
            <a:r>
              <a:t>  틀리면 즉시 알고, 다시 시킵니다. 3번 반복이 30분입니다.</a:t>
            </a:r>
          </a:p>
          <a:p>
            <a:r>
              <a:t>- 하네스가 없으면 매 시도마다 사람이 눈으로 확인합니다. 3번 반복이 이틀입니다.</a:t>
            </a:r>
          </a:p>
          <a:p>
            <a:r>
              <a:t>→ 에이전트 활용의 핵심은 생성 속도가 아니라 '판정 속도'입니다.</a:t>
            </a:r>
          </a:p>
          <a:p>
            <a:r>
              <a:t>   이 문장을 이 발표의 기술적 결론으로 말하세요.</a:t>
            </a:r>
          </a:p>
          <a:p/>
          <a:p>
            <a:r>
              <a:t>[오른쪽 빨간 박스 — 반드시 말하세요]</a:t>
            </a:r>
          </a:p>
          <a:p>
            <a:r>
              <a:t>과대 약속을 하지 마세요. 며칠에 안 끝나는 게 분명히 있습니다:</a:t>
            </a:r>
          </a:p>
          <a:p>
            <a:r>
              <a:t>- 벤더가 arm64 빌드를 아예 제공하지 않는 상용 컴포넌트</a:t>
            </a:r>
          </a:p>
          <a:p>
            <a:r>
              <a:t>- 라이선스가 아키텍처/코어 수에 묶인 경우 → 재협상 필요</a:t>
            </a:r>
          </a:p>
          <a:p>
            <a:r>
              <a:t>- 특수 하드웨어(x86 전용 가속기) 종속</a:t>
            </a:r>
          </a:p>
          <a:p>
            <a:r>
              <a:t>이건 엔지니어링 문제가 아니라 조달 문제입니다. 그래서 인벤토리 단계에서</a:t>
            </a:r>
          </a:p>
          <a:p>
            <a:r>
              <a:t>빨리 발견해 조달·법무에 병렬로 넘기는 게 유일한 단축 방법입니다.</a:t>
            </a:r>
          </a:p>
          <a:p>
            <a:r>
              <a:t>이 솔직함이 발표 전체의 신뢰를 지킵니다.</a:t>
            </a:r>
          </a:p>
          <a:p/>
          <a:p>
            <a:r>
              <a:t>[숫자 주의]</a:t>
            </a:r>
          </a:p>
          <a:p>
            <a:r>
              <a:t>p99 98%, 3회 반복 등은 사례 예시입니다. 실제 수치로 교체하거나</a:t>
            </a:r>
          </a:p>
          <a:p>
            <a:r>
              <a:t>"저희 케이스에서는" 이라고 한정하세요.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23:40–23:50  (섹션 전환, 10초)</a:t>
            </a:r>
          </a:p>
          <a:p/>
          <a:p>
            <a:r>
              <a:t>[전환]</a:t>
            </a:r>
          </a:p>
          <a:p>
            <a:r>
              <a:t>"이제 세 개를 하나로 붙입니다. 그리고 가장 중요한 이야기가 남았습니다: 검증."</a:t>
            </a:r>
          </a:p>
          <a:p/>
          <a:p>
            <a:r>
              <a:t>[이 섹션이 발표에서 하는 일]</a:t>
            </a:r>
          </a:p>
          <a:p>
            <a:r>
              <a:t>앞의 세 파트는 각각 도구 이야기였습니다. 청중 머릿속에는 지금 세 조각이 따로 있습니다.</a:t>
            </a:r>
          </a:p>
          <a:p>
            <a:r>
              <a:t>여기서 하나의 흐름으로 조립해야 "우리도 할 수 있다"가 됩니다.</a:t>
            </a:r>
          </a:p>
          <a:p>
            <a:r>
              <a:t>슬라이드 23(파이프라인)이 그 조립도이고, 24(검증 게이트)가 이 발표의 진짜 결론입니다.</a:t>
            </a:r>
          </a:p>
          <a:p/>
          <a:p>
            <a:r>
              <a:t>[가장 중요한 강조 — 순서를 뒤집기]</a:t>
            </a:r>
          </a:p>
          <a:p>
            <a:r>
              <a:t>지금까지 23분은 "어떻게 빨리 만드는가"였습니다.</a:t>
            </a:r>
          </a:p>
          <a:p>
            <a:r>
              <a:t>남은 4분은 "그게 맞는지 어떻게 아는가"입니다.</a:t>
            </a:r>
          </a:p>
          <a:p>
            <a:r>
              <a:t>그리고 후자가 실제로 리드타임을 결정합니다. 이 반전을 명확히 선언하세요:</a:t>
            </a:r>
          </a:p>
          <a:p>
            <a:r>
              <a:t>"여기까지가 액셀이었고, 이제 브레이크 이야기입니다. 브레이크가 없으면 빨리 못 달립니다."</a:t>
            </a:r>
          </a:p>
          <a:p>
            <a:r>
              <a:t>→ 레이싱 비유가 잘 통합니다. 좋은 브레이크가 있어야 코너에서 속도를 낼 수 있습니다.</a:t>
            </a:r>
          </a:p>
          <a:p/>
          <a:p>
            <a:r>
              <a:t>[이 섹션에서 관리자 청중을 확보합니다]</a:t>
            </a:r>
          </a:p>
          <a:p>
            <a:r>
              <a:t>개발자는 앞 세 파트에서 이미 설득됐습니다. 하지만 승인권자는 리스크를 봅니다.</a:t>
            </a:r>
          </a:p>
          <a:p>
            <a:r>
              <a:t>G1~G6 게이트와 롤백 경로를 보여주는 순간 "통제 가능한 프로젝트"로 인식됩니다.</a:t>
            </a:r>
          </a:p>
          <a:p>
            <a:r>
              <a:t>이 발표가 실제 조직에서 실행되게 만드는 슬라이드는 24번입니다. 시간을 아끼지 마세요.</a:t>
            </a:r>
          </a:p>
          <a:p/>
          <a:p>
            <a:r>
              <a:t>[시간이 밀렸다면]</a:t>
            </a:r>
          </a:p>
          <a:p>
            <a:r>
              <a:t>슬라이드 23 을 30초로 줄이고(그림만 보여주고 "사진 찍으세요") 24 에 집중하세요.</a:t>
            </a:r>
          </a:p>
          <a:p>
            <a:r>
              <a:t>23 은 사진으로 전달되지만, 24 는 말로 설명해야 의미가 전달됩니다.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23:50–25:10</a:t>
            </a:r>
          </a:p>
          <a:p/>
          <a:p>
            <a:r>
              <a:t>[말할 것]</a:t>
            </a:r>
          </a:p>
          <a:p>
            <a:r>
              <a:t>- 7단계를 빠르게 훑되, 각 단계의 '도구' 줄을 짚어주세요.</a:t>
            </a:r>
          </a:p>
          <a:p>
            <a:r>
              <a:t>  세 도구가 어디에 붙는지가 이 슬라이드의 목적입니다.</a:t>
            </a:r>
          </a:p>
          <a:p>
            <a:r>
              <a:t>- 청중이 사진 찍을 슬라이드입니다. 잠깐 멈춰주세요.</a:t>
            </a:r>
          </a:p>
          <a:p/>
          <a:p>
            <a:r>
              <a:t>[에스컬레이션 줄 — 이 설계의 핵심]</a:t>
            </a:r>
          </a:p>
          <a:p>
            <a:r>
              <a:t>파이프라인이 실패하는 이유는 대개 "막혔을 때 어디로 가는지"를 안 정해서입니다.</a:t>
            </a:r>
          </a:p>
          <a:p>
            <a:r>
              <a:t>막힌 항목이 조용히 사라지거나, 누군가의 슬랙 DM 에서 죽습니다.</a:t>
            </a:r>
          </a:p>
          <a:p>
            <a:r>
              <a:t>③→④→⑤→조달 이라는 명시적 경로를 그려두면 아무것도 유실되지 않습니다.</a:t>
            </a:r>
          </a:p>
          <a:p/>
          <a:p>
            <a:r>
              <a:t>[하단 3개 원칙]</a:t>
            </a:r>
          </a:p>
          <a:p>
            <a:r>
              <a:t>1) 공통 스키마 — 다시 반복합니다(파트 01에서 예고했던 것 회수).</a:t>
            </a:r>
          </a:p>
          <a:p>
            <a:r>
              <a:t>   도구는 바뀌지만 스키마는 남습니다.</a:t>
            </a:r>
          </a:p>
          <a:p>
            <a:r>
              <a:t>2) 단방향 — 뒤 단계가 앞 단계 결과를 고치기 시작하면 재실행이 불가능해집니다.</a:t>
            </a:r>
          </a:p>
          <a:p>
            <a:r>
              <a:t>   전체를 다시 돌릴 수 있어야 웨이브 2, 3 이 싸집니다.</a:t>
            </a:r>
          </a:p>
          <a:p>
            <a:r>
              <a:t>3) 사람의 위치 — 세 군데뿐입니다. 분류 승인 / 설계 승인 / 배포 승인.</a:t>
            </a:r>
          </a:p>
          <a:p>
            <a:r>
              <a:t>   이걸 명확히 하면 "그럼 우리는 뭘 하죠?"라는 불안에 답이 됩니다.</a:t>
            </a:r>
          </a:p>
          <a:p>
            <a:r>
              <a:t>   답: 더 높은 레버리지의 결정을 합니다.</a:t>
            </a:r>
          </a:p>
          <a:p/>
          <a:p>
            <a:r>
              <a:t>[예상 질문]</a:t>
            </a:r>
          </a:p>
          <a:p>
            <a:r>
              <a:t>Q. 이걸 다 구축하는 데 얼마 걸렸나요?</a:t>
            </a:r>
          </a:p>
          <a:p>
            <a:r>
              <a:t>A. 파이프라인 자체 구축이 파일럿 2주, 이후 웨이브당 며칠 수준이라고 답하되,</a:t>
            </a:r>
          </a:p>
          <a:p>
            <a:r>
              <a:t>   여러분의 실제 기간으로 바꾸세요. 초기 투자가 있다는 걸 숨기지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25:10–26:40  (이 슬라이드를 절대 건너뛰지 마세요)</a:t>
            </a:r>
          </a:p>
          <a:p/>
          <a:p>
            <a:r>
              <a:t>[말할 것]</a:t>
            </a:r>
          </a:p>
          <a:p>
            <a:r>
              <a:t>- 앞의 모든 이야기가 "빨리 만든다"였습니다. 이 슬라이드는 "안전하게"입니다.</a:t>
            </a:r>
          </a:p>
          <a:p>
            <a:r>
              <a:t>  둘 중 하나만 있으면 프로젝트는 실패합니다.</a:t>
            </a:r>
          </a:p>
          <a:p>
            <a:r>
              <a:t>- 6개 게이트를 이름만 읽고, G3 과 G6 에 시간을 쓰세요.</a:t>
            </a:r>
          </a:p>
          <a:p/>
          <a:p>
            <a:r>
              <a:t>[G3 성능 회귀 — 가장 자주 생략되고 가장 자주 사고 남]</a:t>
            </a:r>
          </a:p>
          <a:p>
            <a:r>
              <a:t>- Graviton 은 코어당 특성이 x86 과 다릅니다. 대체로 좋지만 모든 워크로드가 아닙니다.</a:t>
            </a:r>
          </a:p>
          <a:p>
            <a:r>
              <a:t>  단일 스레드 성능에 크게 의존하거나 특정 명령어에 최적화된 코드는 느려질 수 있습니다.</a:t>
            </a:r>
          </a:p>
          <a:p>
            <a:r>
              <a:t>- 그래서 "옮겼다"가 아니라 "옮기고 측정했다"가 완료 조건입니다.</a:t>
            </a:r>
          </a:p>
          <a:p>
            <a:r>
              <a:t>- 실무 팁: 인스턴스 크기를 1:1 로 매핑하지 마세요. m6i.4xlarge → m7g.4xlarge 가</a:t>
            </a:r>
          </a:p>
          <a:p>
            <a:r>
              <a:t>  항상 정답이 아닙니다. 필요 대수/크기를 다시 계산해야 실제 절감이 나옵니다.</a:t>
            </a:r>
          </a:p>
          <a:p>
            <a:r>
              <a:t>  (이게 G5 비용 검증과 연결됩니다)</a:t>
            </a:r>
          </a:p>
          <a:p/>
          <a:p>
            <a:r>
              <a:t>[G4 런타임 구성 — 앞서 언급한 사이드카 문제 회수]</a:t>
            </a:r>
          </a:p>
          <a:p>
            <a:r>
              <a:t>앱은 되는데 APM 에이전트가 안 되는 상황을 게이트로 잡습니다.</a:t>
            </a:r>
          </a:p>
          <a:p/>
          <a:p>
            <a:r>
              <a:t>[G6 롤백 — 관리자를 설득하는 항목]</a:t>
            </a:r>
          </a:p>
          <a:p>
            <a:r>
              <a:t>"언제든 x86 으로 되돌릴 수 있다"가 있으면 승인이 훨씬 쉽게 납니다.</a:t>
            </a:r>
          </a:p>
          <a:p>
            <a:r>
              <a:t>멀티아키 이미지를 일정 기간 유지하는 비용은 보험료로 생각하세요.</a:t>
            </a:r>
          </a:p>
          <a:p>
            <a:r>
              <a:t>단, 유지 기간을 명시적으로 정하세요(예: 안정화 후 60일). 안 정하면 영구화됩니다.</a:t>
            </a:r>
          </a:p>
          <a:p/>
          <a:p>
            <a:r>
              <a:t>[하단 박스 — 이 발표의 결론적 통찰]</a:t>
            </a:r>
          </a:p>
          <a:p>
            <a:r>
              <a:t>"병목은 생성이 아니라 판정입니다."</a:t>
            </a:r>
          </a:p>
          <a:p>
            <a:r>
              <a:t>Day 2 AM 하네스 이야기와 같은 메시지입니다. 여기서 한 번 더 반복해 못 박으세요.</a:t>
            </a:r>
          </a:p>
          <a:p>
            <a:r>
              <a:t>청중이 오늘 하나만 가져간다면 이 문장이면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26:40–27:50</a:t>
            </a:r>
          </a:p>
          <a:p/>
          <a:p>
            <a:r>
              <a:t>[말할 것]</a:t>
            </a:r>
          </a:p>
          <a:p>
            <a:r>
              <a:t>- 표를 위에서 아래로 읽되, 마지막 줄(총 리드타임)에서 멈추세요.</a:t>
            </a:r>
          </a:p>
          <a:p>
            <a:r>
              <a:t>- 4~6개월 → 2~3주. 하지만 즉시 하단 주의 박스로 넘어가세요.</a:t>
            </a:r>
          </a:p>
          <a:p/>
          <a:p>
            <a:r>
              <a:t>[하단 주의 박스가 이 슬라이드의 진짜 메시지]</a:t>
            </a:r>
          </a:p>
          <a:p>
            <a:r>
              <a:t>과장으로 들리지 않게 하는 장치입니다. 정직하게 말하세요:</a:t>
            </a:r>
          </a:p>
          <a:p>
            <a:r>
              <a:t>- 총 '작업량'은 10배 줄지 않습니다. 코드 변경량은 비슷합니다.</a:t>
            </a:r>
          </a:p>
          <a:p>
            <a:r>
              <a:t>- 줄어든 건 세 가지입니다:</a:t>
            </a:r>
          </a:p>
          <a:p>
            <a:r>
              <a:t>  1) 직렬 대기 — 팀 A 가 끝나야 팀 B 가 시작하던 구조가 병렬이 됨</a:t>
            </a:r>
          </a:p>
          <a:p>
            <a:r>
              <a:t>  2) 시니어 병목 — 한 사람이 판정해야 했던 것을 코드화된 기준이 대체</a:t>
            </a:r>
          </a:p>
          <a:p>
            <a:r>
              <a:t>  3) 판정 지연 — 검증이 자동화되어 반복 비용이 0 에 수렴</a:t>
            </a:r>
          </a:p>
          <a:p>
            <a:r>
              <a:t>- 이 세 가지가 리드타임의 대부분이었다는 게 이 발표의 발견입니다.</a:t>
            </a:r>
          </a:p>
          <a:p/>
          <a:p>
            <a:r>
              <a:t>[숫자 신뢰성]</a:t>
            </a:r>
          </a:p>
          <a:p>
            <a:r>
              <a:t>표의 기간은 200레포 규모 기준 예시입니다. 반드시 다음 중 하나로 처리하세요:</a:t>
            </a:r>
          </a:p>
          <a:p>
            <a:r>
              <a:t>(a) 여러분 실측치로 교체, (b) "규모와 스택에 따라 크게 다릅니다"를 구두로 명시.</a:t>
            </a:r>
          </a:p>
          <a:p>
            <a:r>
              <a:t>청중 중에 회의적인 사람이 반드시 있고, 그 사람이 Q&amp;A 에서 물어봅니다.</a:t>
            </a:r>
          </a:p>
          <a:p>
            <a:r>
              <a:t>먼저 인정하면 그 질문이 공격이 아니라 대화가 됩니다.</a:t>
            </a:r>
          </a:p>
          <a:p/>
          <a:p>
            <a:r>
              <a:t>[예상 질문]</a:t>
            </a:r>
          </a:p>
          <a:p>
            <a:r>
              <a:t>Q. 2~3주에 사람 몇 명이 붙었나요?</a:t>
            </a:r>
          </a:p>
          <a:p>
            <a:r>
              <a:t>A. 반드시 답할 준비를 하세요. 인원 수 없이 기간만 말하면 신뢰를 잃습니다.</a:t>
            </a:r>
          </a:p>
          <a:p>
            <a:r>
              <a:t>   (예: 코어 2명 + 각 서비스팀 리뷰어. 실제 값으로 준비)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27:50–28:40</a:t>
            </a:r>
          </a:p>
          <a:p/>
          <a:p>
            <a:r>
              <a:t>[말할 것]</a:t>
            </a:r>
          </a:p>
          <a:p>
            <a:r>
              <a:t>- 이 슬라이드는 빠르게, 하지만 자신 있게. 실패담이 성공담보다 잘 기억됩니다.</a:t>
            </a:r>
          </a:p>
          <a:p>
            <a:r>
              <a:t>- 6개 중 청중 반응이 좋은 것 2~3개만 골라 말하고 나머지는 "찍어두세요".</a:t>
            </a:r>
          </a:p>
          <a:p>
            <a:r>
              <a:t>  추천: (1) 한 번에 전부 변환, (3) 검증을 나중에, (5) 앱 코드만 인벤토리.</a:t>
            </a:r>
          </a:p>
          <a:p/>
          <a:p>
            <a:r>
              <a:t>[각 항목 부연 — 필요할 때만]</a:t>
            </a:r>
          </a:p>
          <a:p>
            <a:r>
              <a:t>1) 리뷰어 캐파가 진짜 제약입니다. 에이전트는 무한히 만들지만 리뷰어는 유한합니다.</a:t>
            </a:r>
          </a:p>
          <a:p>
            <a:r>
              <a:t>   파이프라인 처리량은 가장 느린 단계로 결정됩니다. 그게 사람입니다.</a:t>
            </a:r>
          </a:p>
          <a:p>
            <a:r>
              <a:t>3) "판정이 없으면 생성은 부채입니다" — 이 문장 좋습니다. 써도 됩니다.</a:t>
            </a:r>
          </a:p>
          <a:p>
            <a:r>
              <a:t>   검증되지 않은 PR 200개는 자산이 아니라 부채입니다.</a:t>
            </a:r>
          </a:p>
          <a:p>
            <a:r>
              <a:t>5) 이건 실제로 배포 하루 전에 발견해서 웨이브를 밀었던 일입니다.</a:t>
            </a:r>
          </a:p>
          <a:p>
            <a:r>
              <a:t>   구체적으로 말하면 신뢰가 올라갑니다.</a:t>
            </a:r>
          </a:p>
          <a:p>
            <a:r>
              <a:t>6) 규칙 이중 저장 — 앞 슬라이드(steering)에서 예고했던 것 회수.</a:t>
            </a:r>
          </a:p>
          <a:p/>
          <a:p>
            <a:r>
              <a:t>[하단 패턴 문장]</a:t>
            </a:r>
          </a:p>
          <a:p>
            <a:r>
              <a:t>이게 발표 전체의 메타 교훈입니다.</a:t>
            </a:r>
          </a:p>
          <a:p>
            <a:r>
              <a:t>"도구가 아니라 사람 쪽 병목을 설계해야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28:40–29:20</a:t>
            </a:r>
          </a:p>
          <a:p/>
          <a:p>
            <a:r>
              <a:t>[말할 것]</a:t>
            </a:r>
          </a:p>
          <a:p>
            <a:r>
              <a:t>- 이게 청중이 실제로 가져갈 산출물입니다. "사진 찍으세요" 라고 명확히 말하세요.</a:t>
            </a:r>
          </a:p>
          <a:p>
            <a:r>
              <a:t>- 전체를 읽지 말고 D3, D5, D6 세 개만 강조합니다.</a:t>
            </a:r>
          </a:p>
          <a:p/>
          <a:p>
            <a:r>
              <a:t>[강조 3개]</a:t>
            </a:r>
          </a:p>
          <a:p>
            <a:r>
              <a:t>D3 검증 하네스를 3일차에 만드는 이유:</a:t>
            </a:r>
          </a:p>
          <a:p>
            <a:r>
              <a:t>  변환보다 검증이 먼저입니다. 이 순서를 바꾸면 반드시 실패합니다.</a:t>
            </a:r>
          </a:p>
          <a:p>
            <a:r>
              <a:t>D5 손으로 1개 완주하는 이유:</a:t>
            </a:r>
          </a:p>
          <a:p>
            <a:r>
              <a:t>  자동화할 대상을 모르는 상태로 지시문을 쓰면 범위가 넓어집니다.</a:t>
            </a:r>
          </a:p>
          <a:p>
            <a:r>
              <a:t>  사람이 한 번 완주하면서 '실제로 무슨 일을 하는지' 기록해야</a:t>
            </a:r>
          </a:p>
          <a:p>
            <a:r>
              <a:t>  그게 정확한 custom transformation 지시문이 됩니다.</a:t>
            </a:r>
          </a:p>
          <a:p>
            <a:r>
              <a:t>  → 자동화는 '이해한 것'만 가능합니다.</a:t>
            </a:r>
          </a:p>
          <a:p>
            <a:r>
              <a:t>D6 이후: 그 기록을 지시문으로 번역하는 작업입니다. 창작이 아니라 번역입니다.</a:t>
            </a:r>
          </a:p>
          <a:p/>
          <a:p>
            <a:r>
              <a:t>[하단 박스]</a:t>
            </a:r>
          </a:p>
          <a:p>
            <a:r>
              <a:t>"자동화를 먼저 하면, 무엇을 자동화할지 모르는 상태로 지시문을 씁니다."</a:t>
            </a:r>
          </a:p>
          <a:p>
            <a:r>
              <a:t>가장 흔한 실수이고, 가장 아까운 실수입니다.</a:t>
            </a:r>
          </a:p>
          <a:p/>
          <a:p>
            <a:r>
              <a:t>[레포 선정 기준 — 질문 나오면]</a:t>
            </a:r>
          </a:p>
          <a:p>
            <a:r>
              <a:t>· 컨테이너화되어 있고 CI 가 있는 것 (없으면 그것부터가 프로젝트가 됩니다)</a:t>
            </a:r>
          </a:p>
          <a:p>
            <a:r>
              <a:t>· 테스트 커버리지가 최악은 아닌 것 (검증 하네스를 만들 수 있어야 함)</a:t>
            </a:r>
          </a:p>
          <a:p>
            <a:r>
              <a:t>· 팀이 협조적인 것 — 기술 기준보다 이게 더 중요합니다</a:t>
            </a:r>
          </a:p>
          <a:p>
            <a:r>
              <a:t>· 프로덕션 크리티컬이 아닌 것 (첫 웨이브는 배우는 게 목적)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29:20–29:50</a:t>
            </a:r>
          </a:p>
          <a:p/>
          <a:p>
            <a:r>
              <a:t>[말할 것]</a:t>
            </a:r>
          </a:p>
          <a:p>
            <a:r>
              <a:t>- 세 문장을 천천히, 또박또박. 여기서 서두르면 발표 전체가 흐려집니다.</a:t>
            </a:r>
          </a:p>
          <a:p>
            <a:r>
              <a:t>- 각 문장은 앞에서 이미 두 번 나왔습니다. 세 번째 반복이라 기억에 남습니다.</a:t>
            </a:r>
          </a:p>
          <a:p>
            <a:r>
              <a:t>  · 01 은 슬라이드 21(Day 2 AM)과 24(검증 게이트)에서 나왔습니다.</a:t>
            </a:r>
          </a:p>
          <a:p>
            <a:r>
              <a:t>  · 02 는 슬라이드 07(60/25/15)과 09(역할 분담)에서 나왔습니다.</a:t>
            </a:r>
          </a:p>
          <a:p>
            <a:r>
              <a:t>  · 03 은 슬라이드 13(36개 리스트)에서 나왔습니다.</a:t>
            </a:r>
          </a:p>
          <a:p>
            <a:r>
              <a:t>- 마무리 문장 제안: "Graviton 을 못 옮기는 게 아닙니다. 옮겼다는 걸 증명하는 속도가</a:t>
            </a:r>
          </a:p>
          <a:p>
            <a:r>
              <a:t>  느렸을 뿐입니다. 그 속도는 설계로 바꿀 수 있습니다."</a:t>
            </a:r>
          </a:p>
          <a:p/>
          <a:p>
            <a:r>
              <a:t>[Q&amp;A 대비 — 자주 나오는 질문]</a:t>
            </a:r>
          </a:p>
          <a:p>
            <a:r>
              <a:t>Q1. 에이전트가 만든 코드를 믿을 수 있나요?</a:t>
            </a:r>
          </a:p>
          <a:p>
            <a:r>
              <a:t>  → 믿지 않습니다. 그래서 G1~G6 게이트가 있습니다. 신뢰는 검증에서 나옵니다.</a:t>
            </a:r>
          </a:p>
          <a:p>
            <a:r>
              <a:t>Q2. 비용이 얼마나 드나요? (토큰/서비스 비용)</a:t>
            </a:r>
          </a:p>
          <a:p>
            <a:r>
              <a:t>  → 절감액과 비교하세요. 리드타임 1개월 단축이 주는 절감이 보통 훨씬 큽니다.</a:t>
            </a:r>
          </a:p>
          <a:p>
            <a:r>
              <a:t>     실제 숫자를 준비해 두면 가장 강력한 답변이 됩니다.</a:t>
            </a:r>
          </a:p>
          <a:p>
            <a:r>
              <a:t>Q3. 우리 조직은 규제 산업인데 에이전트가 코드를 고치는 게 가능한가요?</a:t>
            </a:r>
          </a:p>
          <a:p>
            <a:r>
              <a:t>  → 모든 변경이 PR 로 나오고 사람이 승인합니다. 승인 프로세스는 그대로입니다.</a:t>
            </a:r>
          </a:p>
          <a:p>
            <a:r>
              <a:t>     달라지는 건 초안을 누가 쓰느냐입니다.</a:t>
            </a:r>
          </a:p>
          <a:p>
            <a:r>
              <a:t>Q4. Graviton 말고 다른 마이그레이션에도 쓸 수 있나요?</a:t>
            </a:r>
          </a:p>
          <a:p>
            <a:r>
              <a:t>  → 같은 구조가 Java 버전 업그레이드, 라이브러리 마이그레이션, IaC 표준화에</a:t>
            </a:r>
          </a:p>
          <a:p>
            <a:r>
              <a:t>     그대로 적용됩니다. 60/25/15 구조를 가진 모든 작업에 적용됩니다. (좋은 답변)</a:t>
            </a:r>
          </a:p>
          <a:p>
            <a:r>
              <a:t>Q5. Kiro / AWS Transform 없이 Claude Code 만으로도 되나요?</a:t>
            </a:r>
          </a:p>
          <a:p>
            <a:r>
              <a:t>  → 소규모(레포 20개 이하)면 가능합니다. 규모가 커지면 오케스트레이션과</a:t>
            </a:r>
          </a:p>
          <a:p>
            <a:r>
              <a:t>     감사 추적이 필요해집니다. 솔직하게 답하세요.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29:50–30:00  (또는 Q&amp;A 중 띄워둠)</a:t>
            </a:r>
          </a:p>
          <a:p/>
          <a:p>
            <a:r>
              <a:t>[활용]</a:t>
            </a:r>
          </a:p>
          <a:p>
            <a:r>
              <a:t>- 이 슬라이드는 Q&amp;A 동안 화면에 띄워두면 좋습니다. 청중이 링크를 적을 시간을 줍니다.</a:t>
            </a:r>
          </a:p>
          <a:p>
            <a:r>
              <a:t>- QR 자리에 실제 QR 이미지를 넣으세요 (발표자료 + 템플릿 저장소).</a:t>
            </a:r>
          </a:p>
          <a:p/>
          <a:p>
            <a:r>
              <a:t>[반드시 할 것 — 발표 전 체크]</a:t>
            </a:r>
          </a:p>
          <a:p>
            <a:r>
              <a:t>1. 4개 카드의 URL 과 문서명을 실제로 열어서 확인하세요.</a:t>
            </a:r>
          </a:p>
          <a:p>
            <a:r>
              <a:t>   특히 AWS Transform 의 custom transformation, Kiro 기능명, Skills 스펙은</a:t>
            </a:r>
          </a:p>
          <a:p>
            <a:r>
              <a:t>   변경이 잦습니다. 틀린 링크 하나가 발표 전체의 신뢰를 깎습니다.</a:t>
            </a:r>
          </a:p>
          <a:p>
            <a:r>
              <a:t>2. 사내 공개 가능한 템플릿(스캔 스크립트, SKILL.md, 지시문 예시)을 정리해</a:t>
            </a:r>
          </a:p>
          <a:p>
            <a:r>
              <a:t>   링크로 제공하면 이 세션의 실질적 가치가 크게 올라갑니다.</a:t>
            </a:r>
          </a:p>
          <a:p>
            <a:r>
              <a:t>3. 사내 PoC 숫자를 인용했다면 대외 공개 승인 여부를 확인하세요.</a:t>
            </a:r>
          </a:p>
          <a:p/>
          <a:p>
            <a:r>
              <a:t>[남는 시간이 있으면]</a:t>
            </a:r>
          </a:p>
          <a:p>
            <a:r>
              <a:t>슬라이드 07 (60/25/15 분포)로 돌아가 "여러분 조직의 분포를 먼저 측정하세요"로</a:t>
            </a:r>
          </a:p>
          <a:p>
            <a:r>
              <a:t>마무리하면 깔끔합니다.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AWS TECH SUMMIT  ·  MIGRATION &amp;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Graviton in Days</a:t>
            </a:r>
          </a:p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vs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529584"/>
            <a:ext cx="3840480" cy="3175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67328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AWS Transform custom × Claude Skills × Kiro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1596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x86 → arm64 마이그레이션을 “몇 달짜리 프로젝트”에서 “며칠짜리 반복 작업”으로 바꾼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에이전트 파이프라인 설계와 실전 운영기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321808"/>
            <a:ext cx="823691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30분 세션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75835" y="5321808"/>
            <a:ext cx="1885858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Live 데모 없음 / 코드 중심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7998" y="5321808"/>
            <a:ext cx="1000719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F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실패 사례 포함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5021" y="5321808"/>
            <a:ext cx="170883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B08CFF"/>
                </a:solidFill>
                <a:latin typeface="Apple SD Gothic Neo"/>
                <a:ea typeface="Apple SD Gothic Neo"/>
                <a:cs typeface="Apple SD Gothic Neo"/>
              </a:rPr>
              <a:t>발표자료 QR 마지막 슬라이드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053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발표자 이름 / 소속 / 날짜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이 세션이 끝나면 가져가는 것 3가지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30분 뒤에 이것만 기억하셔도 성공입니다.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3456432" cy="32004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23744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30098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왜 '몇 달'이 걸렸는지 정확히 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4215383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Graviton 마이그레이션 리드타임의 80%는 기술 난이도가 아니라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반복 작업량과 검증 부담입니다. 병목을 정확히 지목합니다.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249424"/>
            <a:ext cx="3456432" cy="32004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3" y="2523744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5B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3" y="330098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세 도구의 역할 분담을 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4215383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AWS Transform custom = 규모(breadth)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Claude Skills = 지식(knowledge)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Kiro = 난제 실행(depth)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2249424"/>
            <a:ext cx="3456432" cy="32004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523744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FC9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330098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다음 주 월요일에 시작할 수 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4215383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레포 1개를 골라 파일럿을 돌리는 구체적 2주 계획을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그대로 복사해 갈 수 있게 마지막에 드립니다.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678424"/>
            <a:ext cx="10817352" cy="658368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521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핵심 명제:  '며칠'을 만드는 건 더 똑똑한 모델이 아니라, 작업을 층으로 쪼개고 각 층에 맞는 에이전트를 붙이는 설계입니다.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30분 · 6개 파트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10817352" cy="54864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45720" cy="5486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957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7744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Why Graviton, Why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4048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가격/성능과 '아직 안 옮긴 이유'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3957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3분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89504"/>
            <a:ext cx="10817352" cy="54864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889504"/>
            <a:ext cx="45720" cy="5486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358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01752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Months의 해부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044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리드타임을 작업 유형별로 분해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035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4분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29584"/>
            <a:ext cx="10817352" cy="54864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529584"/>
            <a:ext cx="45720" cy="548640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6758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5B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65760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AWS Transform custom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685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조직 플레이북을 코드화해 대량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6758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6분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9664"/>
            <a:ext cx="10817352" cy="54864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169664"/>
            <a:ext cx="45720" cy="548640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3159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29768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Claude Skills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3251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포팅 지식을 재사용 가능한 자산으로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43159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B08CFF"/>
                </a:solidFill>
                <a:latin typeface="Apple SD Gothic Neo"/>
                <a:ea typeface="Apple SD Gothic Neo"/>
                <a:cs typeface="Apple SD Gothic Neo"/>
              </a:rPr>
              <a:t>6분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09744"/>
            <a:ext cx="10817352" cy="54864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809744"/>
            <a:ext cx="45720" cy="54864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956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C9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493776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Kiro Power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9651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spec 기반으로 어려운 20%를 실행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956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6분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449824"/>
            <a:ext cx="10817352" cy="54864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5449824"/>
            <a:ext cx="45720" cy="5486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5961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557784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통합 파이프라인 &amp; 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56052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end-to-end 흐름과 성능 회귀 게이트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55961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4분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6089904"/>
            <a:ext cx="10817352" cy="54864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" y="6089904"/>
            <a:ext cx="45720" cy="548640"/>
          </a:xfrm>
          <a:prstGeom prst="rect">
            <a:avLst/>
          </a:prstGeom>
          <a:solidFill>
            <a:srgbClr val="93A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62362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3A1A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621792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실행 계획 &amp; Q&amp;A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6245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2주 파일럿 템플릿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62362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2분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3B4A5C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128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Why Graviton,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9992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가격/성능은 이미 증명됐다. 남은 건 '옮기는 비용'이다.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Graviton 세대별 위치와 커버리지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3986784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옮기면 얻는 것 / 안 옮기면 잃는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43159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그런데도 마이그레이션이 정체되는 진짜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WHY GRAVITON,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Graviton은 이제 '예외'가 아니라 '기본값'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AWS 공식 수치 기준 — 발표 전 최신 값으로 재확인하세요.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2624328" cy="16002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최대 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1810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더 나은 가격 대비 성능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(동급 x86 인스턴스 대비)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249424"/>
            <a:ext cx="2624328" cy="16002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3" y="24871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FC98A"/>
                </a:solidFill>
                <a:latin typeface="Arial"/>
                <a:ea typeface="Arial"/>
                <a:cs typeface="Arial"/>
              </a:rPr>
              <a:t>최대 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311810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동일 성능 기준 에너지 사용 절감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249424"/>
            <a:ext cx="2624328" cy="16002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24871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55B9FF"/>
                </a:solidFill>
                <a:latin typeface="Arial"/>
                <a:ea typeface="Arial"/>
                <a:cs typeface="Arial"/>
              </a:rPr>
              <a:t>150+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11810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Graviton 지원 EC2 인스턴스 타입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2249424"/>
            <a:ext cx="2624328" cy="16002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24871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08CFF"/>
                </a:solidFill>
                <a:latin typeface="Arial"/>
                <a:ea typeface="Arial"/>
                <a:cs typeface="Arial"/>
              </a:rPr>
              <a:t>모든 리전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11810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주요 리전 및 관리형 서비스 전반 지원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2394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관리형 서비스도 대부분 arm64를 지원합니다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35424"/>
            <a:ext cx="153180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Lambda (arm64)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45618" y="4535424"/>
            <a:ext cx="1089233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ECS / EKS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2868" y="4535424"/>
            <a:ext cx="1354775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RDS · Aurora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5659" y="4535424"/>
            <a:ext cx="1266261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ElastiCache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9936" y="4535424"/>
            <a:ext cx="1177747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OpenSearch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19472"/>
            <a:ext cx="558149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EMR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965" y="4919472"/>
            <a:ext cx="558149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MSK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58131" y="4919472"/>
            <a:ext cx="1000719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MemoryDB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86866" y="4919472"/>
            <a:ext cx="1089233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CodeBuild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230368"/>
            <a:ext cx="10817352" cy="841248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3949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비용 절감은 '옮긴 다음'에만 생깁니다. 반대로 마이그레이션이 6개월 밀리면 그 6개월치 절감은 영구 손실입니다.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즉 Graviton 프로젝트의 ROI를 결정하는 변수는 절감률이 아니라 '리드타임'입니다.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WHY GRAVITON,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그럼에도 마이그레이션이 멈춰 있는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기술 문제가 아니라 '증명 비용' 문제입니다.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600"/>
              </a:spcAft>
            </a:pPr>
            <a:r>
              <a:rPr sz="15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현장에서 실제로 듣는 말</a:t>
            </a:r>
          </a:p>
          <a:p>
            <a:pPr lvl="1">
              <a:lnSpc>
                <a:spcPct val="142000"/>
              </a:lnSpc>
              <a:spcAft>
                <a:spcPts val="200"/>
              </a:spcAft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    — "어떤 레포가 영향받는지 목록조차 없다"</a:t>
            </a:r>
          </a:p>
          <a:p>
            <a:pPr lvl="1">
              <a:lnSpc>
                <a:spcPct val="142000"/>
              </a:lnSpc>
              <a:spcAft>
                <a:spcPts val="200"/>
              </a:spcAft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    — "의존성 하나가 arm64를 지원하는지 확인하는 데 반나절"</a:t>
            </a:r>
          </a:p>
          <a:p>
            <a:pPr lvl="1">
              <a:lnSpc>
                <a:spcPct val="142000"/>
              </a:lnSpc>
              <a:spcAft>
                <a:spcPts val="200"/>
              </a:spcAft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    — "Dockerfile을 200개 고쳐야 하는데 담당자가 다 다르다"</a:t>
            </a:r>
          </a:p>
          <a:p>
            <a:pPr lvl="1">
              <a:lnSpc>
                <a:spcPct val="142000"/>
              </a:lnSpc>
              <a:spcAft>
                <a:spcPts val="200"/>
              </a:spcAft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    — "성능이 떨어질까 봐 아무도 결재를 못 한다"</a:t>
            </a:r>
          </a:p>
          <a:p>
            <a:pPr lvl="1">
              <a:lnSpc>
                <a:spcPct val="142000"/>
              </a:lnSpc>
              <a:spcAft>
                <a:spcPts val="200"/>
              </a:spcAft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    — "작년에 한 번 시도했다가 빌드 깨져서 롤백했다"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57984"/>
            <a:ext cx="5376672" cy="35661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공통점: 전부 '확인'과 '반복'의 문제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816352"/>
            <a:ext cx="4846320" cy="566928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9626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모른다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9809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인벤토리·영향도 분석이 수작업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74720"/>
            <a:ext cx="4846320" cy="566928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6210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많다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6393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동일한 변경을 수십~수백 번 반복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33087"/>
            <a:ext cx="4846320" cy="566928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2793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무섭다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29767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성능/정확도 회귀를 증명할 수단이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91455"/>
            <a:ext cx="4846320" cy="566928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9377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흩어져 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95604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지식이 특정 시니어의 머릿속에만 존재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138928"/>
            <a:ext cx="10817352" cy="914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03520"/>
            <a:ext cx="10332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재구성:  "arm64로 못 옮긴다"는 문제는 거의 없습니다.  "arm64로 옮겨도 안전하다는 걸 200번 증명할 사람이 없다"는 문제입니다.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→ 이건 컴파일러 문제가 아니라 처리량(throughput) 문제입니다. 그래서 에이전트가 먹히는 영역입니다.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MONTHS의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리드타임 해부: 무엇이 시간을 먹는가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레포 200개 규모 마이그레이션의 작업량 분포 (사내 PoC 기준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10817352" cy="1042415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6309360" cy="1042415"/>
          </a:xfrm>
          <a:prstGeom prst="rect">
            <a:avLst/>
          </a:prstGeom>
          <a:solidFill>
            <a:srgbClr val="1E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249424"/>
            <a:ext cx="45720" cy="1042415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3230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FC98A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957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기계적 반복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761488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base image 교체, CI matrix 추가,</a:t>
            </a:r>
          </a:p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IaC 인스턴스 타입 변경, 태그/문서 수정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64991"/>
            <a:ext cx="10817352" cy="1042415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364991"/>
            <a:ext cx="2651760" cy="1042415"/>
          </a:xfrm>
          <a:prstGeom prst="rect">
            <a:avLst/>
          </a:prstGeom>
          <a:solidFill>
            <a:srgbClr val="1E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64991"/>
            <a:ext cx="45720" cy="1042415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478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55B9FF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5112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지식 필요 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877056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의존성 arm64 지원 여부, wheel/네이티브 빌드,</a:t>
            </a:r>
          </a:p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에이전트·라이선스 호환성 검토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80559"/>
            <a:ext cx="10817352" cy="1042415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480559"/>
            <a:ext cx="1463040" cy="1042415"/>
          </a:xfrm>
          <a:prstGeom prst="rect">
            <a:avLst/>
          </a:prstGeom>
          <a:solidFill>
            <a:srgbClr val="1E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480559"/>
            <a:ext cx="45720" cy="1042415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663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06A7E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6268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진짜 어려운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992623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x86 intrinsics(SSE/AVX), 인라인 어셈블리,</a:t>
            </a:r>
          </a:p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JNI, 특정 벤더 바이너리, 성능 회귀 튜닝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6151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← AWS Transform custom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7307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← Claude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846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← Kiro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50991"/>
            <a:ext cx="10817352" cy="603504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769864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함정:  대부분의 팀은 15%(어려운 것)를 걱정하면서 60%(반복)에 인력을 태웁니다.</a:t>
            </a:r>
          </a:p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그 결과 시니어가 base image를 고치고 있고, 정작 SIMD 코드는 손도 못 댑니다.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3B4A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128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세 개의 힘, 세 개의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9992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같은 문제를 세 층으로 쪼개고 각 층에 맞는 도구를 붙인다.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breadth · knowledge ·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3986784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왜 도구 하나로는 안 되는가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43159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세 도구가 만나는 접점: 산출물 포맷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역할 분담 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세 도구는 경쟁 관계가 아니라 서로 다른 층을 담당합니다.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3456432" cy="3401568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3456432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468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AWS TRANSFORM custom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523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breadth · 규모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14553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조직의 마이그레이션 플레이북을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3924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custom transformation 으로 코드화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6393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수십~수백 레포에 동시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886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결과를 PR/변경셋으로 산출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13308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감사 추적과 일관성 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" y="4553712"/>
            <a:ext cx="294436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6817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잘하는 것:  같은 변경을 200번 똑같이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못하는 것:  처음 보는 예외 상황 판단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2249424"/>
            <a:ext cx="3456432" cy="3401568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1688" y="2249424"/>
            <a:ext cx="3456432" cy="73152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468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08CFF"/>
                </a:solidFill>
                <a:latin typeface="Apple SD Gothic Neo"/>
                <a:ea typeface="Apple SD Gothic Neo"/>
                <a:cs typeface="Apple SD Gothic Neo"/>
              </a:rPr>
              <a:t>CLAUDE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7523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knowledge · 지식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14553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Graviton 포팅 노하우를 SKILL.md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3924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스크립트/레퍼런스로 패키징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6393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필요할 때만 로드 (progressive disclosure)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886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Claude Code · API · Agent SDK 공용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13308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git으로 버전관리 · 리뷰 · 배포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4553712"/>
            <a:ext cx="294436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6817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잘하는 것:  판단 기준을 일관되게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1389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못하는 것:  실행 인프라 자체를 대체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5" y="2249424"/>
            <a:ext cx="3456432" cy="3401568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37575" y="2249424"/>
            <a:ext cx="3456432" cy="73152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7" y="2468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KIRO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7" y="27523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depth · 난제 실행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7" y="314553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spec-driven: requirements →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7" y="33924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→ tasks 로 난제를 분해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7" y="36393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steering 파일로 프로젝트 규칙 고정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7" y="3886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agent hooks 로 저장/커밋 시 자동 검증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7" y="413308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사람이 설계에 개입하는 지점 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93607" y="4553712"/>
            <a:ext cx="294436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3607" y="46817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잘하는 것:  어려운 15%를 추적 가능하게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7" y="51389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못하는 것:  200레포 일괄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5769864"/>
            <a:ext cx="10817352" cy="530352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58978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접착제는 '산출물 포맷':  세 도구가 모두 같은 인벤토리 JSON과 같은 검증 리포트 스키마를 읽고 씁니다.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3B4A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128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AWS Transform custom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9992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우리 조직의 플레이북을 '실행 가능한 변환'으로 만든다.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AWS Transform 이 원래 제공하는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3986784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custom transformation 의 구조와 작성법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43159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Graviton 변환 job 설계 · 200레포 fan-out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AWS TRANSFORM CUSTOM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AWS Transform: 에이전틱 마이그레이션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사람이 오케스트레이션하던 마이그레이션 절차를 서비스가 수행합니다.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기본 제공(built-in) 변환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33472"/>
            <a:ext cx="5120640" cy="512064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VMware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7977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온프렘 → EC2 전환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36976"/>
            <a:ext cx="5120640" cy="512064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Mainframe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832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COBOL 분석·리팩터링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80"/>
            <a:ext cx="5120640" cy="512064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684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.NET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9867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Framework → .NET(Linux) 이식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43984"/>
            <a:ext cx="5120640" cy="512064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Windows→Linux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902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OS/런타임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8464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공통 패턴:  ① 인벤토리·의존성 분석  →  ② 변환 계획 수립  →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③ 코드/설정 변경 생성  →  ④ 빌드·검증  →  ⑤ 사람 리뷰용 산출물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203704"/>
            <a:ext cx="5376672" cy="3977639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3865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그리고 custom transformation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52344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AWS가 미리 만들어 둔 변환 외에, 우리 조직만의 변환 절차를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자연어 지시 + 규칙 + 예시로 정의해 같은 엔진 위에서 돌립니다.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2102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95344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Graviton 전용 built-in 변환을 기다릴 필요가 없습니다.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우리가 이미 아는 절차를 그대로 태우면 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8056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무엇이 입력인가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변환 목표, 대상 선택 규칙, 해야 할 것/하지 말 것,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Before/After 예시, 검증 방법.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4009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무엇이 출력인가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614416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레포별 변경셋(PR), 변경 근거, 실패·보류 목록,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사람이 봐야 할 항목 큐.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AWS TRANSFORM CUSTOM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Graviton custom transformation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변환 지시문은 '자연어 문서'가 아니라 '실행 계약'처럼 씁니다.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6035040" cy="3977639"/>
          </a:xfrm>
          <a:prstGeom prst="roundRect">
            <a:avLst>
              <a:gd name="adj" fmla="val 3000"/>
            </a:avLst>
          </a:prstGeom>
          <a:solidFill>
            <a:srgbClr val="141B24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5632703" cy="3666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0" i="0">
                <a:solidFill>
                  <a:srgbClr val="6B7A89"/>
                </a:solidFill>
                <a:latin typeface="Menlo"/>
                <a:ea typeface="Menlo"/>
                <a:cs typeface="Menlo"/>
              </a:rPr>
              <a:t># graviton-transform/instructions.md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## GOAL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x86_64 전용 가정을 제거하고 arm64/x86 양쪽에서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빌드·실행되도록 변경한다. 기능 변경은 금지.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## IN SCOPE  (반드시 처리)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Dockerfile / *.dockerfile : base image 를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multi-arch 태그로, --platform 하드코딩 제거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CI 설정 : build matrix 에 arm64 러너 추가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Terraform / CDK / CFN : instance_type 을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변수화 (m6i → var.instance_type)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requirements.txt / pom.xml / go.mod :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arch 고정 의존성 탐지 후 보고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06A7E"/>
                </a:solidFill>
                <a:latin typeface="Menlo"/>
                <a:ea typeface="Menlo"/>
                <a:cs typeface="Menlo"/>
              </a:rPr>
              <a:t>## OUT OF SCOPE  (절대 손대지 말 것)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비즈니스 로직, 공개 API 시그니처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의존성 major 버전 업그레이드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성능 튜닝 목적의 코드 재작성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B08CFF"/>
                </a:solidFill>
                <a:latin typeface="Menlo"/>
                <a:ea typeface="Menlo"/>
                <a:cs typeface="Menlo"/>
              </a:rPr>
              <a:t>## ESCALATE  (변경하지 말고 큐에 올릴 것)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x86 intrinsics / inline asm / JNI 발견 시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arm64 미지원 벤더 바이너리 발견 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2494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설계 원칙 4가지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660904"/>
            <a:ext cx="4507992" cy="8686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2660904"/>
            <a:ext cx="41148" cy="86868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78892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① 범위를 좁게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632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'전부 알아서'는 반드시 실패합니다. 파일 패턴 단위로 명시.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3602736"/>
            <a:ext cx="4507992" cy="8686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602736"/>
            <a:ext cx="41148" cy="86868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73075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② 금지 목록을 먼저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0050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OUT OF SCOPE 가 IN SCOPE 보다 중요합니다.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리뷰 비용을 결정합니다.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4544568"/>
            <a:ext cx="4507992" cy="8686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95160" y="4544568"/>
            <a:ext cx="41148" cy="86868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672584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③ 에스컬레이션 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946904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못 하는 걸 '시도'하게 두면 안 됩니다.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큐에 올리고 멈추게 합니다 → Kiro 로 넘김.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5486400"/>
            <a:ext cx="4507992" cy="8686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95160" y="5486400"/>
            <a:ext cx="41148" cy="86868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5614416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④ 검증을 계약에 포함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88873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빌드 통과 + 테스트 통과가 아니면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PR 을 열지 않도록 지시.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AWS TRANSFORM CUSTOM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200 레포 fan-out: 실행과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한 번 다듬은 변환을 전체 포트폴리오에 적용합니다. (사내 PoC 기준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1883664" cy="11887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1883664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5059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대상 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8163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인벤토리 기반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웨이브 분할</a:t>
            </a:r>
          </a:p>
        </p:txBody>
      </p:sp>
      <p:sp>
        <p:nvSpPr>
          <p:cNvPr id="13" name="Pentagon 12"/>
          <p:cNvSpPr/>
          <p:nvPr/>
        </p:nvSpPr>
        <p:spPr>
          <a:xfrm>
            <a:off x="2615184" y="2724912"/>
            <a:ext cx="256032" cy="237744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53512" y="2249424"/>
            <a:ext cx="1883664" cy="11887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2249424"/>
            <a:ext cx="1883664" cy="54864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104" y="245059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변환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8163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레포별 job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병렬 수행</a:t>
            </a:r>
          </a:p>
        </p:txBody>
      </p:sp>
      <p:sp>
        <p:nvSpPr>
          <p:cNvPr id="18" name="Pentagon 17"/>
          <p:cNvSpPr/>
          <p:nvPr/>
        </p:nvSpPr>
        <p:spPr>
          <a:xfrm>
            <a:off x="4882896" y="2724912"/>
            <a:ext cx="256032" cy="237744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249424"/>
            <a:ext cx="1883664" cy="11887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21224" y="2249424"/>
            <a:ext cx="1883664" cy="54864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85816" y="245059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자동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8163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arm64 빌드 +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테스트 실행</a:t>
            </a:r>
          </a:p>
        </p:txBody>
      </p:sp>
      <p:sp>
        <p:nvSpPr>
          <p:cNvPr id="23" name="Pentagon 22"/>
          <p:cNvSpPr/>
          <p:nvPr/>
        </p:nvSpPr>
        <p:spPr>
          <a:xfrm>
            <a:off x="7150607" y="2724912"/>
            <a:ext cx="256032" cy="237744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88936" y="2249424"/>
            <a:ext cx="1883664" cy="11887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88936" y="2249424"/>
            <a:ext cx="1883664" cy="54864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7" y="245059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PR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28163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통과한 것만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PR 오픈</a:t>
            </a:r>
          </a:p>
        </p:txBody>
      </p:sp>
      <p:sp>
        <p:nvSpPr>
          <p:cNvPr id="28" name="Pentagon 27"/>
          <p:cNvSpPr/>
          <p:nvPr/>
        </p:nvSpPr>
        <p:spPr>
          <a:xfrm>
            <a:off x="9418320" y="2724912"/>
            <a:ext cx="256032" cy="237744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56648" y="2249424"/>
            <a:ext cx="1883664" cy="11887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56648" y="2249424"/>
            <a:ext cx="1883664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45059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사람 리뷰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4664" y="28163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diff 20~60줄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레포당 5분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758183"/>
            <a:ext cx="2624328" cy="1143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941063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3FC98A"/>
                </a:solidFill>
                <a:latin typeface="Arial"/>
                <a:ea typeface="Arial"/>
                <a:cs typeface="Arial"/>
              </a:rPr>
              <a:t>164 / 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453127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변환 자동 통과 후 PR 생성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3758183"/>
            <a:ext cx="2624328" cy="1143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85031" y="3941063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55B9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5031" y="4453127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지식 판단 필요 → Skills 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7064" y="3758183"/>
            <a:ext cx="2624328" cy="1143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3941063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06A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453127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난제 → Kiro spec 으로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7696" y="3758183"/>
            <a:ext cx="2624328" cy="1143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6296" y="3941063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~5분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6296" y="4453127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레포당 사람 리뷰 시간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5129783"/>
            <a:ext cx="10817352" cy="1170432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5294375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여기서 얻은 것 = 60%의 소멸, 그리고 '남은 일의 정확한 목록'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64184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PR 164개보다 값진 산출물은 '36개의 남은 항목 리스트'입니다. 처음으로 남은 작업이 유한하고 계획 가능해집니다.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'언제 끝날지 모르는 프로젝트'가 '36개 티켓'이 되는 순간, 관리자의 승인이 나옵니다.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3B4A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128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Claude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9992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포팅 지식을 사람 머릿속에서 꺼내 버전관리 가능한 자산으로.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Skill 이란 무엇인가 · progressive disclosure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3986784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graviton-porting skill 해부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43159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지식이 자산이 되면 무엇이 달라지는가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CLAUDE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Claude Skills: 지식을 폴더로 배포한다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모델을 바꾸지 않고, 모델이 참조하는 절차적 지식을 바꿉니다.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구조는 놀랄 만큼 단순합니다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33472"/>
            <a:ext cx="5120640" cy="2194560"/>
          </a:xfrm>
          <a:prstGeom prst="roundRect">
            <a:avLst>
              <a:gd name="adj" fmla="val 3000"/>
            </a:avLst>
          </a:prstGeom>
          <a:solidFill>
            <a:srgbClr val="141B24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9776"/>
            <a:ext cx="4718303" cy="18836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50" b="0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graviton-porting/</a:t>
            </a:r>
          </a:p>
          <a:p>
            <a:pPr>
              <a:lnSpc>
                <a:spcPct val="122000"/>
              </a:lnSpc>
            </a:pPr>
            <a:r>
              <a:rPr sz="11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├── SKILL.md            # 진입점 + 메타데이터</a:t>
            </a:r>
          </a:p>
          <a:p>
            <a:pPr>
              <a:lnSpc>
                <a:spcPct val="122000"/>
              </a:lnSpc>
            </a:pPr>
            <a:r>
              <a:rPr sz="11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├── references/</a:t>
            </a:r>
          </a:p>
          <a:p>
            <a:pPr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│   ├── dependency-matrix.md</a:t>
            </a:r>
          </a:p>
          <a:p>
            <a:pPr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│   ├── dockerfile-patterns.md</a:t>
            </a:r>
          </a:p>
          <a:p>
            <a:pPr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│   └── simd-porting.md</a:t>
            </a:r>
          </a:p>
          <a:p>
            <a:pPr>
              <a:lnSpc>
                <a:spcPct val="122000"/>
              </a:lnSpc>
            </a:pPr>
            <a:r>
              <a:rPr sz="11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└── scripts/</a:t>
            </a:r>
          </a:p>
          <a:p>
            <a:pPr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  ├── scan_arch_deps.py</a:t>
            </a:r>
          </a:p>
          <a:p>
            <a:pPr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  └── verify_multiarch.sh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92624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SKILL.md 의 frontmatter(name, description)만 항상 로드되고,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본문과 references/ 는 '필요하다고 판단될 때' 읽힙니다.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→ progressive disclosure: 컨텍스트를 아끼면서 깊은 지식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203704"/>
            <a:ext cx="5376672" cy="41148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865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B08CFF"/>
                </a:solidFill>
                <a:latin typeface="Apple SD Gothic Neo"/>
                <a:ea typeface="Apple SD Gothic Neo"/>
                <a:cs typeface="Apple SD Gothic Neo"/>
              </a:rPr>
              <a:t>왜 프롬프트가 아니라 Skill 인가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98064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798064"/>
            <a:ext cx="41148" cy="914400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94436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프롬프트에 다 넣기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218688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매번 복붙 · 사람마다 다른 버전 · 컨텍스트 낭비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개선이 축적되지 않음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49624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849624"/>
            <a:ext cx="41148" cy="91440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99592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Skill 로 패키징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270248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git 으로 리뷰·버전관리 · 팀 전체 동일 기준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개선이 커밋으로 쌓임 · 필요할 때만 로드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4690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같은 Skill 을 여러 곳에서 재사용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312664"/>
            <a:ext cx="1266261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5077" y="5312664"/>
            <a:ext cx="1177747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Claude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0840" y="5312664"/>
            <a:ext cx="1089233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5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Agent SDK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69864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마이그레이션 팀의 로컬 작업, CI 자동 점검, 대량 파이프라인이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모두 '같은 판단 기준'을 공유하게 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CLAUDE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graviton-porting SKILL.md 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지식의 핵심은 '무엇을 확인해야 하는가'의 체크리스트입니다.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6400800" cy="4206240"/>
          </a:xfrm>
          <a:prstGeom prst="roundRect">
            <a:avLst>
              <a:gd name="adj" fmla="val 3000"/>
            </a:avLst>
          </a:prstGeom>
          <a:solidFill>
            <a:srgbClr val="141B24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5998464" cy="3895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6B7A89"/>
                </a:solidFill>
                <a:latin typeface="Menlo"/>
                <a:ea typeface="Menlo"/>
                <a:cs typeface="Menlo"/>
              </a:rPr>
              <a:t>---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name: graviton-porting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description: x86_64 → arm64(Graviton) 포팅 시 사용.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  의존성 arch 호환성 판정, multi-arch 컨테이너 이미지,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  CI matrix, 네이티브 확장/SIMD 코드 처리 판단이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  필요할 때 트리거.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6B7A89"/>
                </a:solidFill>
                <a:latin typeface="Menlo"/>
                <a:ea typeface="Menlo"/>
                <a:cs typeface="Menlo"/>
              </a:rPr>
              <a:t>---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# Graviton 포팅 절차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## 1. 먼저 스캔한다  (추측 금지)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`scripts/scan_arch_deps.py` 를 실행해 아래를 수집한다.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결과 없이 코드를 수정하지 않는다.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- Dockerfile FROM / --platform 하드코딩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- 아키텍처 고정 의존성 (manylinux, *_x86_64.whl)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- 네이티브 빌드 흔적 (setup.py ext_modules, JNI, cgo)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## 2. 판정 기준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`references/dependency-matrix.md` 의 표를 따른다.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표에 없으면 추측하지 말고 UNKNOWN 으로 보고한다.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## 3. 변경 규칙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`references/dockerfile-patterns.md` 의 승인된 패턴만 사용.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06A7E"/>
                </a:solidFill>
                <a:latin typeface="Menlo"/>
                <a:ea typeface="Menlo"/>
                <a:cs typeface="Menlo"/>
              </a:rPr>
              <a:t>## 4. 에스컬레이션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SIMD / inline asm / 벤더 바이너리 → 수정하지 말고</a:t>
            </a:r>
          </a:p>
          <a:p>
            <a:pPr>
              <a:lnSpc>
                <a:spcPct val="122000"/>
              </a:lnSpc>
            </a:pPr>
            <a:r>
              <a:rPr sz="105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escalation 리포트에 근거와 함께 기록한다.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494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B08CFF"/>
                </a:solidFill>
                <a:latin typeface="Apple SD Gothic Neo"/>
                <a:ea typeface="Apple SD Gothic Neo"/>
                <a:cs typeface="Apple SD Gothic Neo"/>
              </a:rPr>
              <a:t>설계 규칙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660904"/>
            <a:ext cx="4096512" cy="896112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660904"/>
            <a:ext cx="41148" cy="896112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78892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추측 금지 · 스캔 우선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0632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"아마 arm64 될 것" 이 가장 비쌉니다.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스크립트 결과만 근거로 인정.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630168"/>
            <a:ext cx="4096512" cy="896112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3630168"/>
            <a:ext cx="41148" cy="896112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75818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UNKNOWN 을 허용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032504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모른다고 말할 수 있게 해야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조용한 오답이 사라집니다.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4599432"/>
            <a:ext cx="4096512" cy="896112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4599432"/>
            <a:ext cx="41148" cy="896112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47274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승인된 패턴만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00176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창의성이 필요 없는 영역입니다.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선택지를 좁히면 리뷰가 쉬워집니다.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5568696"/>
            <a:ext cx="4096512" cy="896112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5568696"/>
            <a:ext cx="41148" cy="896112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56967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스크립트를 함께 배포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971032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판단은 모델이, 수집은 코드가.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결정적인 부분은 결정적으로.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CLAUDE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references/ 에 들어가는 실전 지식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이 표를 한 번 만들어 두면 조직 전체가 같은 판정을 내립니다.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249424"/>
          <a:ext cx="10817352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4206240"/>
                <a:gridCol w="158191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영역</a:t>
                      </a:r>
                    </a:p>
                  </a:txBody>
                  <a:tcPr marL="109728" marR="73152" marT="45720" marB="4572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항목</a:t>
                      </a:r>
                    </a:p>
                  </a:txBody>
                  <a:tcPr marL="109728" marR="73152" marT="45720" marB="4572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전형적 결론</a:t>
                      </a:r>
                    </a:p>
                  </a:txBody>
                  <a:tcPr marL="109728" marR="73152" marT="45720" marB="4572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위험도</a:t>
                      </a:r>
                    </a:p>
                  </a:txBody>
                  <a:tcPr marL="109728" marR="73152" marT="45720" marB="45720" anchor="ctr">
                    <a:solidFill>
                      <a:srgbClr val="232F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Java / JVM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JVM 버전, JNI 포함 여부, Netty 등 native transport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대개 재컴파일 없이 동작. JNI 만 주의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3FC98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낮음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Python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wheel 존재 여부(manylinux_aarch64), C 확장 빌드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주요 패키지는 지원. 소수는 소스 빌드 필요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99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중간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Go / Rust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크로스 컴파일 타깃, cgo 의존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GOARCH=arm64 한 줄. 가장 쉬움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3FC98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낮음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Node.js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네이티브 애드온(node-gyp), prebuild 바이너리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sharp/canvas 류 확인 필요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99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중간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컨테이너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base image multi-arch 여부, --platform 하드코딩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대부분 multi-arch 제공. 사내 이미지가 문제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99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중간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에이전트/사이드카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APM·보안·로그 에이전트의 arm64 빌드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벤더별로 상이. 라이선스 확인 필요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06A7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높음</a:t>
                      </a:r>
                    </a:p>
                  </a:txBody>
                  <a:tcPr marL="109728" marR="73152" marT="45720" marB="45720" anchor="ctr">
                    <a:solidFill>
                      <a:srgbClr val="222C3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SIMD / 암호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SSE·AVX intrinsics, 인라인 어셈블리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NEON/SVE 대응 또는 라이브러리 교체 필요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06A7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높음</a:t>
                      </a:r>
                    </a:p>
                  </a:txBody>
                  <a:tcPr marL="109728" marR="73152" marT="45720" marB="45720" anchor="ctr">
                    <a:solidFill>
                      <a:srgbClr val="1A222D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5952744"/>
            <a:ext cx="10817352" cy="713232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610819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이 표의 가치:  '위험도 높음' 세 줄만 사람이 보면 됩니다. 나머지는 에이전트가 처리 가능한 영역으로 확정됩니다.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3B4A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128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Kiro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9992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남은 어려운 15%를, 추적 가능한 방식으로 실제로 끝낸다.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spec-driven development: requirements → design →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3986784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steering 파일과 agent hooks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43159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SIMD·JNI 같은 난제를 실제로 넘긴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KIRO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Kiro: 코드를 먼저 쓰지 않고 spec 을 먼저 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어려운 문제에서 필요한 건 빠른 생성이 아니라 합의된 설계입니다.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3291840" cy="64008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4871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requirements.md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81635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무엇을 해결하는가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209544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대상: 이미지 리사이즈 핫패스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제약: 출력 픽셀 동일성 보장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성공 기준: p99 지연 ≤ 기존 105%</a:t>
            </a:r>
          </a:p>
        </p:txBody>
      </p:sp>
      <p:sp>
        <p:nvSpPr>
          <p:cNvPr id="14" name="Pentagon 13"/>
          <p:cNvSpPr/>
          <p:nvPr/>
        </p:nvSpPr>
        <p:spPr>
          <a:xfrm>
            <a:off x="4059935" y="3209544"/>
            <a:ext cx="256032" cy="237744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98264" y="2249424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49424"/>
            <a:ext cx="3291840" cy="64008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24871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08CFF"/>
                </a:solidFill>
                <a:latin typeface="Menlo"/>
                <a:ea typeface="Menlo"/>
                <a:cs typeface="Menlo"/>
              </a:rPr>
              <a:t>design.md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281635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어떻게 해결하는가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3209544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SSE intrinsics → NEON 매핑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또는 검증된 라이브러리로 대체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arch 분기 전략과 폴백 경로</a:t>
            </a:r>
          </a:p>
        </p:txBody>
      </p:sp>
      <p:sp>
        <p:nvSpPr>
          <p:cNvPr id="20" name="Pentagon 19"/>
          <p:cNvSpPr/>
          <p:nvPr/>
        </p:nvSpPr>
        <p:spPr>
          <a:xfrm>
            <a:off x="7772400" y="3209544"/>
            <a:ext cx="256032" cy="237744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0728" y="2249424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0728" y="2249424"/>
            <a:ext cx="3291840" cy="64008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24871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3FC98A"/>
                </a:solidFill>
                <a:latin typeface="Menlo"/>
                <a:ea typeface="Menlo"/>
                <a:cs typeface="Menlo"/>
              </a:rPr>
              <a:t>tasks.md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81635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무엇을 순서대로 하는가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3209544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벤치 하네스 먼저 작성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골든 이미지 비교 테스트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구현 → 측정 → 반복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45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사람이 개입하는 지점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▲ 범위 합의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▲ 설계 승인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7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▲ 구현 위임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449824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1441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왜 이게 난제에서 결정적인가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952744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어려운 문제에서 에이전트에게 바로 코드를 시키면,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결과가 맞는지 판단할 기준이 없습니다.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spec 을 먼저 쓰면 '무엇이 성공인지'가 코드보다 먼저 확정됩니다.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3912" y="5449824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561441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부수 효과: 인수인계 문서가 공짜로 생긴다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5952744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13개 난제의 requirements/design/tasks 가 그대로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남습니다. 6개월 뒤 다른 팀이 같은 문제를 만나면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처음부터 시작하지 않습니다.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KIRO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steering 파일과 agent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프로젝트 규칙을 매번 설명하지 않고 고정합니다.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5852160" cy="2148840"/>
          </a:xfrm>
          <a:prstGeom prst="roundRect">
            <a:avLst>
              <a:gd name="adj" fmla="val 3000"/>
            </a:avLst>
          </a:prstGeom>
          <a:solidFill>
            <a:srgbClr val="141B24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5449824" cy="18379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0" i="0">
                <a:solidFill>
                  <a:srgbClr val="6B7A89"/>
                </a:solidFill>
                <a:latin typeface="Menlo"/>
                <a:ea typeface="Menlo"/>
                <a:cs typeface="Menlo"/>
              </a:rPr>
              <a:t># .kiro/steering/graviton.md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## 이 프로젝트의 불변 규칙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모든 컨테이너 이미지는 linux/amd64 + linux/arm64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둘 다 빌드되어야 한다. 한쪽만 성공하면 실패다.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아키텍처 분기는 빌드 타임에만 허용.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런타임 uname 분기 금지.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성능에 민감한 변경은 bench/ 결과 첨부 없이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Menlo"/>
                <a:ea typeface="Menlo"/>
                <a:cs typeface="Menlo"/>
              </a:rPr>
              <a:t>  커밋 금지.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 의존성 추가 시 arm64 지원을 PR 본문에 명시.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626864"/>
            <a:ext cx="5852160" cy="1828800"/>
          </a:xfrm>
          <a:prstGeom prst="roundRect">
            <a:avLst>
              <a:gd name="adj" fmla="val 3000"/>
            </a:avLst>
          </a:prstGeom>
          <a:solidFill>
            <a:srgbClr val="141B24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773168"/>
            <a:ext cx="5449824" cy="1517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0" i="0">
                <a:solidFill>
                  <a:srgbClr val="6B7A89"/>
                </a:solidFill>
                <a:latin typeface="Menlo"/>
                <a:ea typeface="Menlo"/>
                <a:cs typeface="Menlo"/>
              </a:rPr>
              <a:t># .kiro/hooks/  (이벤트 → 자동 검증)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F3F6F8"/>
                </a:solidFill>
                <a:latin typeface="Menlo"/>
                <a:ea typeface="Menlo"/>
                <a:cs typeface="Menlo"/>
              </a:rPr>
              <a:t/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3FC98A"/>
                </a:solidFill>
                <a:latin typeface="Menlo"/>
                <a:ea typeface="Menlo"/>
                <a:cs typeface="Menlo"/>
              </a:rPr>
              <a:t>on save  Dockerfile*   → multi-arch 태그 검증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3FC98A"/>
                </a:solidFill>
                <a:latin typeface="Menlo"/>
                <a:ea typeface="Menlo"/>
                <a:cs typeface="Menlo"/>
              </a:rPr>
              <a:t>on save  *.tf          → instance_type 하드코딩 탐지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3FC98A"/>
                </a:solidFill>
                <a:latin typeface="Menlo"/>
                <a:ea typeface="Menlo"/>
                <a:cs typeface="Menlo"/>
              </a:rPr>
              <a:t>on save  requirements* → aarch64 wheel 존재 확인</a:t>
            </a:r>
          </a:p>
          <a:p>
            <a:pPr>
              <a:lnSpc>
                <a:spcPct val="122000"/>
              </a:lnSpc>
            </a:pPr>
            <a:r>
              <a:rPr sz="1100" b="0" i="0">
                <a:solidFill>
                  <a:srgbClr val="3FC98A"/>
                </a:solidFill>
                <a:latin typeface="Menlo"/>
                <a:ea typeface="Menlo"/>
                <a:cs typeface="Menlo"/>
              </a:rPr>
              <a:t>pre-commit             → arm64 컨테이너 빌드 스모크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203704"/>
            <a:ext cx="4690872" cy="42519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238658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79806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▸ 규칙이 대화에서 사라진다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3072384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"multi-arch 로 해주세요"를 매번 타이핑하지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않습니다. 잊어버리지도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369417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▸ 리뷰가 규칙 검사에서 해방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3968496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사람은 설계를 봅니다. 규칙 위반은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hook 이 저장 시점에 잡습니다.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459028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▸ 새 팀원이 즉시 같은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864607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온보딩 문서를 읽지 않아도 규칙이 적용됩니다.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지식이 리포지터리에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548640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▸ 회귀가 커밋 전에 막힌다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5760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arm64 빌드 실패를 CI 20분 뒤가 아니라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로컬 20초 뒤에 알게 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KIRO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난제 케이스: SIMD 핫패스 포팅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13개 중 가장 어려웠던 한 건을 어떻게 넘겼는가 (사내 사례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45720" cy="566928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048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Day 1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395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문제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2257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SSE intrinsics 로 작성된 픽셀 변환 루프.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단순 컴파일 시 빌드 실패.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9504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89504"/>
            <a:ext cx="45720" cy="566928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449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08CFF"/>
                </a:solidFill>
                <a:latin typeface="Menlo"/>
                <a:ea typeface="Menlo"/>
                <a:cs typeface="Menlo"/>
              </a:rPr>
              <a:t>Day 1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0358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spec 작성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6265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requirements: 출력 바이트 동일성 + p99 ≤ 105%.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design: 라이브러리 대체안 vs NEON 직접 포팅 비교.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9584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29584"/>
            <a:ext cx="45720" cy="5669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85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Day 2 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675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검증 하네스 먼저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60273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골든 이미지 1,000장 비교 테스트 + 벤치 하네스를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구현보다 먼저 작성. (여기가 승부처)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69664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169664"/>
            <a:ext cx="45720" cy="566928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3251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FC98A"/>
                </a:solidFill>
                <a:latin typeface="Menlo"/>
                <a:ea typeface="Menlo"/>
                <a:cs typeface="Menlo"/>
              </a:rPr>
              <a:t>Day 2 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315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구현 · 측정 반복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24281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에이전트가 NEON 포팅, 하네스가 즉시 판정.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3회 반복 후 동일성 통과, p99 98%.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09744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809744"/>
            <a:ext cx="45720" cy="566928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965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FC98A"/>
                </a:solidFill>
                <a:latin typeface="Menlo"/>
                <a:ea typeface="Menlo"/>
                <a:cs typeface="Menlo"/>
              </a:rPr>
              <a:t>Day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956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리뷰 · 병합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88289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사람은 design.md 와 벤치 결과만 검토.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코드 리뷰는 30분.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504688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3F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6327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무엇이 시간을 줄였나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92531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구현보다 '판정 기준(하네스)'을 먼저 만든 것.</a:t>
            </a:r>
          </a:p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판정이 자동화되면 반복 비용이 0에 가까워집니다.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3912" y="5504688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F06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56327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정직하게: 며칠이 안 되는 경우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592531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벤더 바이너리 미지원, 라이선스 재협상, 하드웨어 종속</a:t>
            </a:r>
          </a:p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→ 기술이 아니라 조달·계약 문제. 며칠에 안 끝납니다.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3B4A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128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통합 파이프라인 &amp;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9992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세 도구를 하나의 흐름으로. 그리고 진짜 관문은 검증이다.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end-to-end 파이프라인 한 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3986784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성능 회귀 게이트 없이는 아무것도 배포되지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43159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Days vs Months 최종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End-to-end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한 방향 흐름 + 명시적 에스컬레이션 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1412748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1412748" cy="54864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12298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① 인벤토리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16352"/>
            <a:ext cx="12664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전 레포 스캔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inventory.json 생성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21024"/>
            <a:ext cx="113842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758183"/>
            <a:ext cx="12664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Skills scripts</a:t>
            </a:r>
          </a:p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+ Transform 분석</a:t>
            </a:r>
          </a:p>
        </p:txBody>
      </p:sp>
      <p:sp>
        <p:nvSpPr>
          <p:cNvPr id="15" name="Pentagon 14"/>
          <p:cNvSpPr/>
          <p:nvPr/>
        </p:nvSpPr>
        <p:spPr>
          <a:xfrm>
            <a:off x="2116836" y="3118104"/>
            <a:ext cx="173736" cy="201168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6291" y="2249424"/>
            <a:ext cx="1412748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36291" y="2249424"/>
            <a:ext cx="1412748" cy="54864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7732" y="2432304"/>
            <a:ext cx="12298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②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9444" y="2816352"/>
            <a:ext cx="12664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위험도별 3분류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웨이브 계획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73451" y="3621024"/>
            <a:ext cx="113842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09444" y="3758183"/>
            <a:ext cx="12664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B08CFF"/>
                </a:solidFill>
                <a:latin typeface="Apple SD Gothic Neo"/>
                <a:ea typeface="Apple SD Gothic Neo"/>
                <a:cs typeface="Apple SD Gothic Neo"/>
              </a:rPr>
              <a:t>규칙 + 판정 매트릭스</a:t>
            </a:r>
          </a:p>
        </p:txBody>
      </p:sp>
      <p:sp>
        <p:nvSpPr>
          <p:cNvPr id="22" name="Pentagon 21"/>
          <p:cNvSpPr/>
          <p:nvPr/>
        </p:nvSpPr>
        <p:spPr>
          <a:xfrm>
            <a:off x="3767327" y="3118104"/>
            <a:ext cx="173736" cy="201168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86783" y="2249424"/>
            <a:ext cx="1412748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86783" y="2249424"/>
            <a:ext cx="1412748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8223" y="2432304"/>
            <a:ext cx="12298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③ 대량 변환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9935" y="2816352"/>
            <a:ext cx="12664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기계적 변경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일괄 적용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23944" y="3621024"/>
            <a:ext cx="113842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9935" y="3758183"/>
            <a:ext cx="12664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AWS Transform</a:t>
            </a:r>
          </a:p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custom</a:t>
            </a:r>
          </a:p>
        </p:txBody>
      </p:sp>
      <p:sp>
        <p:nvSpPr>
          <p:cNvPr id="29" name="Pentagon 28"/>
          <p:cNvSpPr/>
          <p:nvPr/>
        </p:nvSpPr>
        <p:spPr>
          <a:xfrm>
            <a:off x="5417819" y="3118104"/>
            <a:ext cx="173736" cy="201168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37275" y="2249424"/>
            <a:ext cx="1412748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37275" y="2249424"/>
            <a:ext cx="1412748" cy="54864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28715" y="2432304"/>
            <a:ext cx="12298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④ 지식 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0427" y="2816352"/>
            <a:ext cx="12664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의존성/이미지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판단 필요 항목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74436" y="3621024"/>
            <a:ext cx="113842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0427" y="3758183"/>
            <a:ext cx="12664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B08CFF"/>
                </a:solidFill>
                <a:latin typeface="Apple SD Gothic Neo"/>
                <a:ea typeface="Apple SD Gothic Neo"/>
                <a:cs typeface="Apple SD Gothic Neo"/>
              </a:rPr>
              <a:t>Claude Skills</a:t>
            </a:r>
          </a:p>
        </p:txBody>
      </p:sp>
      <p:sp>
        <p:nvSpPr>
          <p:cNvPr id="36" name="Pentagon 35"/>
          <p:cNvSpPr/>
          <p:nvPr/>
        </p:nvSpPr>
        <p:spPr>
          <a:xfrm>
            <a:off x="7068311" y="3118104"/>
            <a:ext cx="173736" cy="201168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87767" y="2249424"/>
            <a:ext cx="1412748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87767" y="2249424"/>
            <a:ext cx="1412748" cy="54864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207" y="2432304"/>
            <a:ext cx="12298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⑤ 난제 실행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19" y="2816352"/>
            <a:ext cx="12664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spec 기반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설계·구현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24927" y="3621024"/>
            <a:ext cx="113842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19" y="3758183"/>
            <a:ext cx="12664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Kiro</a:t>
            </a:r>
          </a:p>
        </p:txBody>
      </p:sp>
      <p:sp>
        <p:nvSpPr>
          <p:cNvPr id="43" name="Pentagon 42"/>
          <p:cNvSpPr/>
          <p:nvPr/>
        </p:nvSpPr>
        <p:spPr>
          <a:xfrm>
            <a:off x="8718803" y="3118104"/>
            <a:ext cx="173736" cy="201168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38259" y="2249424"/>
            <a:ext cx="1412748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38259" y="2249424"/>
            <a:ext cx="1412748" cy="54864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9699" y="2432304"/>
            <a:ext cx="12298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⑥ 검증 게이트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1411" y="2816352"/>
            <a:ext cx="12664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빌드·테스트·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성능 회귀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75419" y="3621024"/>
            <a:ext cx="113842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11411" y="3758183"/>
            <a:ext cx="12664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CI + 벤치 하네스</a:t>
            </a:r>
          </a:p>
        </p:txBody>
      </p:sp>
      <p:sp>
        <p:nvSpPr>
          <p:cNvPr id="50" name="Pentagon 49"/>
          <p:cNvSpPr/>
          <p:nvPr/>
        </p:nvSpPr>
        <p:spPr>
          <a:xfrm>
            <a:off x="10369295" y="3118104"/>
            <a:ext cx="173736" cy="201168"/>
          </a:xfrm>
          <a:prstGeom prst="homePlate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588751" y="2249424"/>
            <a:ext cx="1412748" cy="22860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588751" y="2249424"/>
            <a:ext cx="1412748" cy="54864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80191" y="2432304"/>
            <a:ext cx="12298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⑦ 웨이브 배포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61903" y="2816352"/>
            <a:ext cx="12664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카나리 →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점진 확대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25911" y="3621024"/>
            <a:ext cx="1138428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61903" y="3758183"/>
            <a:ext cx="12664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기존 배포 파이프라인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4764024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F06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4919472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에스컬레이션:  ③ 에서 막힌 것 → ④ 로,  ④ 에서 UNKNOWN → ⑤ 로,  ⑤ 에서 벤더/라이선스 문제 → 조달·법무 트랙으로 즉시 분기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" y="5541264"/>
            <a:ext cx="3538728" cy="1051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5800" y="5541264"/>
            <a:ext cx="41148" cy="10515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544" y="56875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공통 스키마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" y="599846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inventory.json / validation-report.json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두 파일만 표준화하면 도구는 교체 가능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98264" y="5541264"/>
            <a:ext cx="3538728" cy="1051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98264" y="5541264"/>
            <a:ext cx="41148" cy="1051560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36007" y="56875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단방향 원칙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36007" y="599846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뒤 단계가 앞 단계 산출물을 수정하지 않음.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재실행 가능성(idempotency) 확보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10727" y="5541264"/>
            <a:ext cx="3538728" cy="1051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10727" y="5541264"/>
            <a:ext cx="41148" cy="105156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48471" y="56875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사람의 위치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48471" y="599846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② 분류 승인, ⑤ 설계 승인, ⑦ 배포 승인.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그 외에는 개입하지 않음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통합 파이프라인 &amp;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검증 게이트: 여기가 진짜 관문입니다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빌드 성공은 마이그레이션 완료가 아닙니다.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45720" cy="105156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FC98A"/>
                </a:solidFill>
                <a:latin typeface="Arial"/>
                <a:ea typeface="Arial"/>
                <a:cs typeface="Arial"/>
              </a:rPr>
              <a:t>G1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빌드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0662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양쪽 아키텍처 빌드 성공.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한쪽만 성공 = 실패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957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19856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19856"/>
            <a:ext cx="45720" cy="105156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124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FC98A"/>
                </a:solidFill>
                <a:latin typeface="Arial"/>
                <a:ea typeface="Arial"/>
                <a:cs typeface="Arial"/>
              </a:rPr>
              <a:t>G2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66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기능 동등성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7705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기존 테스트 스위트 통과 +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골든 데이터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661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필수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90288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590288"/>
            <a:ext cx="45720" cy="10515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82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G3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365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성능 회귀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4748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핵심 지표 p50/p99 를 기존 대비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허용 범위 내로 (예: ≤105%)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365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필수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224942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2249424"/>
            <a:ext cx="45720" cy="10515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25420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G4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런타임 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270662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에이전트·사이드카·라이브러리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arm64 정상 동작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97312" y="23957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필수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3912" y="3419856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419856"/>
            <a:ext cx="45720" cy="1051560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37124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5B9FF"/>
                </a:solidFill>
                <a:latin typeface="Arial"/>
                <a:ea typeface="Arial"/>
                <a:cs typeface="Arial"/>
              </a:rPr>
              <a:t>G5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3566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비용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387705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실제 인스턴스 시간당 단가 ×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필요 대수 재계산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97312" y="35661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권장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3912" y="4590288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53912" y="4590288"/>
            <a:ext cx="45720" cy="1051560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4882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06A7E"/>
                </a:solidFill>
                <a:latin typeface="Arial"/>
                <a:ea typeface="Arial"/>
                <a:cs typeface="Arial"/>
              </a:rPr>
              <a:t>G6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47365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롤백 가능성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504748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x86 로 즉시 되돌릴 경로 유지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(멀티아키 유지 기간 설정)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97312" y="47365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06A7E"/>
                </a:solidFill>
                <a:latin typeface="Apple SD Gothic Neo"/>
                <a:ea typeface="Apple SD Gothic Neo"/>
                <a:cs typeface="Apple SD Gothic Neo"/>
              </a:rPr>
              <a:t>필수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5907024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6071616"/>
            <a:ext cx="10332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이 게이트가 자동화되어 있느냐가 'Months vs Days' 를 결정합니다.</a:t>
            </a:r>
          </a:p>
          <a:p>
            <a:pPr algn="l">
              <a:lnSpc>
                <a:spcPct val="132000"/>
              </a:lnSpc>
            </a:pPr>
            <a:r>
              <a:rPr sz="13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게이트가 수동이면 에이전트가 코드를 10배 빨리 만들어도 리드타임은 그대로입니다. 병목은 생성이 아니라 판정입니다.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통합 파이프라인 &amp;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Months vs Days: 무엇이 달라졌는가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같은 작업량, 다른 처리 구조. (레포 200개 규모 기준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249424"/>
          <a:ext cx="10817352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2834640"/>
                <a:gridCol w="2770632"/>
              </a:tblGrid>
              <a:tr h="40233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단계</a:t>
                      </a:r>
                    </a:p>
                  </a:txBody>
                  <a:tcPr marL="128016" marR="73152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방식</a:t>
                      </a:r>
                    </a:p>
                  </a:txBody>
                  <a:tcPr marL="128016" marR="73152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방식</a:t>
                      </a:r>
                    </a:p>
                  </a:txBody>
                  <a:tcPr marL="128016" marR="73152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차이</a:t>
                      </a:r>
                    </a:p>
                  </a:txBody>
                  <a:tcPr marL="128016" marR="73152" anchor="ctr">
                    <a:solidFill>
                      <a:srgbClr val="232F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인벤토리·영향도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06A7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2~4주 (수작업 조사)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FC98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1~2일 (스캔 스크립트)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추측 → 측정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기계적 변경 (60%)</a:t>
                      </a:r>
                    </a:p>
                  </a:txBody>
                  <a:tcPr marL="128016" marR="73152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06A7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8~12주 (팀별 분산 작업)</a:t>
                      </a:r>
                    </a:p>
                  </a:txBody>
                  <a:tcPr marL="128016" marR="73152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FC98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2~3일 (일괄 변환)</a:t>
                      </a:r>
                    </a:p>
                  </a:txBody>
                  <a:tcPr marL="128016" marR="73152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사람 반복 → 대량 실행</a:t>
                      </a:r>
                    </a:p>
                  </a:txBody>
                  <a:tcPr marL="128016" marR="73152" anchor="ctr">
                    <a:solidFill>
                      <a:srgbClr val="222C3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지식 판단 (25%)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06A7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4~6주 (시니어 병목)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FC98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2~4일 (Skill 적용)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머릿속 → 코드화된 기준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난제 (15%)</a:t>
                      </a:r>
                    </a:p>
                  </a:txBody>
                  <a:tcPr marL="128016" marR="73152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06A7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예측 불가 (수주~중단)</a:t>
                      </a:r>
                    </a:p>
                  </a:txBody>
                  <a:tcPr marL="128016" marR="73152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FC98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항목별 2~5일</a:t>
                      </a:r>
                    </a:p>
                  </a:txBody>
                  <a:tcPr marL="128016" marR="73152" anchor="ctr">
                    <a:solidFill>
                      <a:srgbClr val="222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무한 → 유한한 티켓</a:t>
                      </a:r>
                    </a:p>
                  </a:txBody>
                  <a:tcPr marL="128016" marR="73152" anchor="ctr">
                    <a:solidFill>
                      <a:srgbClr val="222C3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06A7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레포별 수동 확인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FC98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자동 게이트 (G1~G6)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A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판정이 병목 → 판정이 즉시</a:t>
                      </a:r>
                    </a:p>
                  </a:txBody>
                  <a:tcPr marL="128016" marR="73152" anchor="ctr">
                    <a:solidFill>
                      <a:srgbClr val="1A22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3F6F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총 리드타임</a:t>
                      </a:r>
                    </a:p>
                  </a:txBody>
                  <a:tcPr marL="128016" marR="73152" anchor="ctr">
                    <a:solidFill>
                      <a:srgbClr val="2A2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06A7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4~6개월</a:t>
                      </a:r>
                    </a:p>
                  </a:txBody>
                  <a:tcPr marL="128016" marR="73152" anchor="ctr">
                    <a:solidFill>
                      <a:srgbClr val="2A2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FC98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2~3주</a:t>
                      </a:r>
                    </a:p>
                  </a:txBody>
                  <a:tcPr marL="128016" marR="73152" anchor="ctr">
                    <a:solidFill>
                      <a:srgbClr val="2A2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99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구조가 다름</a:t>
                      </a:r>
                    </a:p>
                  </a:txBody>
                  <a:tcPr marL="128016" marR="73152" anchor="ctr">
                    <a:solidFill>
                      <a:srgbClr val="2A221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5678424"/>
            <a:ext cx="10817352" cy="960120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833872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주의:  이건 '10배 빠른 엔지니어'가 아니라 '다른 작업 구조'입니다.</a:t>
            </a:r>
          </a:p>
          <a:p>
            <a:pPr algn="l">
              <a:lnSpc>
                <a:spcPct val="132000"/>
              </a:lnSpc>
            </a:pPr>
            <a:r>
              <a:rPr sz="13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총 작업량은 크게 줄지 않습니다. 줄어든 것은 직렬 대기 시간, 시니어 병목, 그리고 판정 지연입니다.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ANTI-PATTERNS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우리가 틀렸던 것들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이 부분이 아마 오늘 가장 쓸모 있을 겁니다.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45720" cy="1097280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865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✕  한 번에 전부 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06624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PR 200개를 동시에 열었고 아무도 리뷰하지 않았습니다.</a:t>
            </a:r>
          </a:p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→ 웨이브 20~30개 단위로 분할. 리뷰어 캐파가 진짜 제약입니다.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5643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56432"/>
            <a:ext cx="45720" cy="1097280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✕  범위를 넓게 준 지시문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91363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"Graviton 호환으로 만들어줘" → diff 4,000줄, 리뷰 불가.</a:t>
            </a:r>
          </a:p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→ 파일 패턴 단위로 좁히니 레포당 20~60줄.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6344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663440"/>
            <a:ext cx="45720" cy="1097280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00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✕  검증을 나중에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12064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변환을 먼저 다 돌리고 검증을 붙이려 했습니다. 순서가 틀렸습니다.</a:t>
            </a:r>
          </a:p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→ 하네스를 먼저. 판정이 없으면 생성은 부채입니다.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2249424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249424"/>
            <a:ext cx="45720" cy="1097280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865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✕  인스턴스 1:1 매핑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m6i.4xlarge → m7g.4xlarge 로 기계적 치환.</a:t>
            </a:r>
          </a:p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→ 크기·대수를 재산정해야 실제 절감이 나옵니다.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345643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3456432"/>
            <a:ext cx="45720" cy="1097280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✕  앱 코드만 인벤토리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1363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사이드카·APM·보안 에이전트를 빼먹어 배포 직전에 막혔습니다.</a:t>
            </a:r>
          </a:p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→ '런타임에 함께 뜨는 모든 것'을 인벤토리 대상으로.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466344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4663440"/>
            <a:ext cx="45720" cy="1097280"/>
          </a:xfrm>
          <a:prstGeom prst="rect">
            <a:avLst/>
          </a:prstGeom>
          <a:solidFill>
            <a:srgbClr val="F0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800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✕  규칙을 두 곳에 저장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Skill 의 references 와 Kiro steering 이 갈라져 판정이 충돌.</a:t>
            </a:r>
          </a:p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→ 단일 원본에서 생성하도록 통합.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952744"/>
            <a:ext cx="10817352" cy="658368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6108192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패턴:  실패는 전부 '에이전트가 못해서'가 아니라 '사람 쪽 병목(리뷰·판정·인벤토리 범위)을 안 봐서' 생겼습니다.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다음 주 월요일에 시작하는 2주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레포 1개로 시작하세요. 200개로 시작하면 실패합니다.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5349240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4871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6265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D1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294436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대표 레포 1개 선정 (컨테이너 + CI 있고, 팀이 협조적인 것)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529584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3511296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인벤토리 스캔 스크립트 작성 → inventory.json 스키마 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96512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D3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407822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검증 하네스 먼저 구축 (arm64 빌드 + 기존 테스트 + 간단 벤치)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66344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D4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464515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graviton-porting Skill 초안 (SKILL.md + 의존성 매트릭스 v0)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23036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Menlo"/>
                <a:ea typeface="Menlo"/>
                <a:cs typeface="Menlo"/>
              </a:rPr>
              <a:t>D5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521208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손으로 1개 레포 완주 → 걸린 지점을 전부 기록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249424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249424"/>
            <a:ext cx="5349240" cy="64008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4871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5B9FF"/>
                </a:solidFill>
                <a:latin typeface="Arial"/>
                <a:ea typeface="Arial"/>
                <a:cs typeface="Arial"/>
              </a:rPr>
              <a:t>Week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96265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D6-7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294436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D5 기록을 custom transformation 지시문으로 변환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529584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D8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3511296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레포 10개에 시범 적용 → diff 크기·통과율 측정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096512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D9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07822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지시문 2차 개정 (범위 축소 · 금지 목록 강화)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66344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D10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464515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난제 1건을 Kiro spec 으로 작성해 실행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523036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5B9FF"/>
                </a:solidFill>
                <a:latin typeface="Menlo"/>
                <a:ea typeface="Menlo"/>
                <a:cs typeface="Menlo"/>
              </a:rPr>
              <a:t>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521208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웨이브 계획 + 조직 승인용 숫자 확보 → 본 실행 착수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998464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6144768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순서가 중요합니다:  검증 하네스(D3) → 지식 코드화(D4) → 수동 완주(D5) → 그 다음에 자동화(D6).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자동화를 먼저 하면 무엇을 자동화해야 하는지 모르는 상태로 지시문을 씁니다.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85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51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오늘 하나만 가져가신다면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783080"/>
            <a:ext cx="3657600" cy="3175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48840"/>
            <a:ext cx="10177272" cy="1170432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148840"/>
            <a:ext cx="54864" cy="117043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3134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295144"/>
            <a:ext cx="8778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병목은 생성이 아니라 판정입니다.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69748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에이전트가 코드를 10배 빨리 만들어도, 그게 맞는지 확인하는 속도가 그대로면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리드타임은 변하지 않습니다. 검증 하네스를 먼저 만드세요.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47288"/>
            <a:ext cx="10177272" cy="1170432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3447288"/>
            <a:ext cx="54864" cy="1170432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11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55B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593592"/>
            <a:ext cx="8778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작업을 층으로 쪼개고 각 층에 맞는 도구를 붙이세요.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995928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기계적 반복 60% → AWS Transform custom  ·  지식 판단 25% → Claude Skills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난제 15% → Kiro spec. 하나로 다 하려는 시도가 실패의 원인입니다.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745736"/>
            <a:ext cx="10177272" cy="1170432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4745736"/>
            <a:ext cx="54864" cy="1170432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4910327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FC9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892040"/>
            <a:ext cx="8778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남은 일을 '유한한 목록'으로 만드는 게 가장 큰 성과입니다.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294375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PR 164개보다 '남은 36개' 목록이 값집니다. 끝을 알 수 있으면 승인이 나고,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승인이 나면 절감이 시작됩니다.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6172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감사합니다.  ·  질문 받겠습니다.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Appendix: 참고 자료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발표 후 확인해 볼 것들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17352" cy="12700"/>
          </a:xfrm>
          <a:prstGeom prst="rect">
            <a:avLst/>
          </a:prstGeom>
          <a:solidFill>
            <a:srgbClr val="3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Graviton in Days vs Months  ·  AWS Transform custom × Claude Skills × 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82512"/>
            <a:ext cx="1444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9424"/>
            <a:ext cx="45720" cy="1554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41401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Apple SD Gothic Neo"/>
                <a:ea typeface="Apple SD Gothic Neo"/>
                <a:cs typeface="Apple SD Gothic Neo"/>
              </a:rPr>
              <a:t>AWS Graviton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797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AWS Graviton 기술 가이드 (GitHub: aws/aws-graviton-getting-started)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0906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언어별 포팅 가이드 · 성능 튜닝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015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EC2 Graviton 제품 페이지 — 최신 인스턴스/수치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2249424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912" y="2249424"/>
            <a:ext cx="45720" cy="1554480"/>
          </a:xfrm>
          <a:prstGeom prst="rect">
            <a:avLst/>
          </a:prstGeom>
          <a:solidFill>
            <a:srgbClr val="55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41401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5B9FF"/>
                </a:solidFill>
                <a:latin typeface="Apple SD Gothic Neo"/>
                <a:ea typeface="Apple SD Gothic Neo"/>
                <a:cs typeface="Apple SD Gothic Neo"/>
              </a:rPr>
              <a:t>AWS 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7797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aws.amazon.com/transform — 지원 변환 종류 및 custom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0906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콘솔에서 소규모 레포로 먼저 시험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4015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요금/한도 정책 확인 필수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41064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941064"/>
            <a:ext cx="45720" cy="1554480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10565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8CFF"/>
                </a:solidFill>
                <a:latin typeface="Apple SD Gothic Neo"/>
                <a:ea typeface="Apple SD Gothic Neo"/>
                <a:cs typeface="Apple SD Gothic Neo"/>
              </a:rPr>
              <a:t>Claude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47141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docs.claude.com — Agent Skills 문서 및 예제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7823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SKILL.md frontmatter 스펙 · progressive disclosure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50932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Claude Code / API / Agent SDK 에서의 사용법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941064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3941064"/>
            <a:ext cx="45720" cy="1554480"/>
          </a:xfrm>
          <a:prstGeom prst="rect">
            <a:avLst/>
          </a:prstGeom>
          <a:solidFill>
            <a:srgbClr val="3F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410565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C98A"/>
                </a:solidFill>
                <a:latin typeface="Apple SD Gothic Neo"/>
                <a:ea typeface="Apple SD Gothic Neo"/>
                <a:cs typeface="Apple SD Gothic Neo"/>
              </a:rPr>
              <a:t>Kiro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447141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kiro.dev — spec-driven development, steering, hooks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47823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MCP 서버 연동으로 사내 도구 접근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50932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1AF"/>
                </a:solidFill>
                <a:latin typeface="Apple SD Gothic Neo"/>
                <a:ea typeface="Apple SD Gothic Neo"/>
                <a:cs typeface="Apple SD Gothic Neo"/>
              </a:rPr>
              <a:t>·  팀 단위 steering 규칙 표준화 사례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769864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222C39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92531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발표자료 · 스캔 스크립트 예제 · SKILL.md 템플릿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3F6F8"/>
                </a:solidFill>
                <a:latin typeface="Apple SD Gothic Neo"/>
                <a:ea typeface="Apple SD Gothic Neo"/>
                <a:cs typeface="Apple SD Gothic Neo"/>
              </a:rPr>
              <a:t>→ QR 코드 또는 사내 링크를 여기에 삽입하세요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5861304"/>
            <a:ext cx="685800" cy="685800"/>
          </a:xfrm>
          <a:prstGeom prst="roundRect">
            <a:avLst>
              <a:gd name="adj" fmla="val 6000"/>
            </a:avLst>
          </a:prstGeom>
          <a:solidFill>
            <a:srgbClr val="2A3440"/>
          </a:solidFill>
          <a:ln w="12700">
            <a:solidFill>
              <a:srgbClr val="303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60899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6B7A89"/>
                </a:solidFill>
                <a:latin typeface="Apple SD Gothic Neo"/>
                <a:ea typeface="Apple SD Gothic Neo"/>
                <a:cs typeface="Apple SD Gothic Neo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